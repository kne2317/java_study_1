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7DC"/>
    <a:srgbClr val="F7CDD3"/>
    <a:srgbClr val="FADEE2"/>
    <a:srgbClr val="F9DBDF"/>
    <a:srgbClr val="F5C4C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8" autoAdjust="0"/>
    <p:restoredTop sz="94660"/>
  </p:normalViewPr>
  <p:slideViewPr>
    <p:cSldViewPr>
      <p:cViewPr>
        <p:scale>
          <a:sx n="75" d="100"/>
          <a:sy n="75" d="100"/>
        </p:scale>
        <p:origin x="-418" y="108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1" y="3824817"/>
            <a:ext cx="2678906" cy="608118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785" y="-1335"/>
            <a:ext cx="6859785" cy="9907336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612835" y="2499471"/>
            <a:ext cx="4236467" cy="1739553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909208" y="3569115"/>
            <a:ext cx="4883348" cy="475596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1785" y="-1335"/>
            <a:ext cx="6859785" cy="9907336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1" y="3824817"/>
            <a:ext cx="2678906" cy="6081183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14549" y="2494176"/>
            <a:ext cx="4238244" cy="1744180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912114" y="3565328"/>
            <a:ext cx="4882896" cy="475488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584960"/>
            <a:ext cx="2400300" cy="53624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5012" y="1584960"/>
            <a:ext cx="2400300" cy="53624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584960"/>
            <a:ext cx="2400300" cy="79248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363" y="2458225"/>
            <a:ext cx="2400300" cy="4490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25012" y="1584960"/>
            <a:ext cx="2400300" cy="79248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25012" y="2458225"/>
            <a:ext cx="2400300" cy="4490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1" y="3824817"/>
            <a:ext cx="2678906" cy="608118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-2056208" y="2056211"/>
            <a:ext cx="9906000" cy="5793584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588698" y="2276594"/>
            <a:ext cx="3909060" cy="157361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165" y="3782873"/>
            <a:ext cx="2855834" cy="48023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973466" y="3254890"/>
            <a:ext cx="4346070" cy="900342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1521619" y="0"/>
            <a:ext cx="5336381" cy="9906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1" y="3824817"/>
            <a:ext cx="2678906" cy="608118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" y="7291917"/>
            <a:ext cx="2678906" cy="2614083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503398" y="2480835"/>
            <a:ext cx="4114800" cy="1252975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857610" y="3149653"/>
            <a:ext cx="4572409" cy="1069848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675763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675763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1786" y="7295359"/>
            <a:ext cx="2680693" cy="2610643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785" y="7296311"/>
            <a:ext cx="6859785" cy="2609691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528320"/>
            <a:ext cx="5640705" cy="792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589797"/>
            <a:ext cx="5640705" cy="5170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150876" y="8479536"/>
            <a:ext cx="1632204" cy="2905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3F0BB3-5624-4A6F-A8D0-74C03672B84E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38136" y="9078510"/>
            <a:ext cx="3543300" cy="396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00779" y="8913410"/>
            <a:ext cx="377190" cy="72644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A166AD-E89E-403F-9A1D-9DF02439812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08720" y="1424608"/>
            <a:ext cx="5040560" cy="1944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6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JAVA</a:t>
            </a:r>
            <a:endParaRPr lang="ko-KR" altLang="en-US" sz="66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628800" y="8193360"/>
            <a:ext cx="5040560" cy="152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bg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미림여자정보과학고등학교</a:t>
            </a:r>
            <a:endParaRPr lang="en-US" altLang="ko-KR" sz="2400" dirty="0" smtClean="0">
              <a:solidFill>
                <a:schemeClr val="bg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bg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뉴미디어 </a:t>
            </a:r>
            <a:r>
              <a:rPr lang="ko-KR" altLang="en-US" sz="2400" dirty="0" err="1" smtClean="0">
                <a:solidFill>
                  <a:schemeClr val="bg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소프트웨어과</a:t>
            </a:r>
            <a:endParaRPr lang="en-US" altLang="ko-KR" sz="2400" dirty="0">
              <a:solidFill>
                <a:schemeClr val="bg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400" dirty="0" smtClean="0">
                <a:solidFill>
                  <a:schemeClr val="bg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1106 </a:t>
            </a:r>
            <a:r>
              <a:rPr lang="ko-KR" altLang="en-US" sz="2400" dirty="0" smtClean="0">
                <a:solidFill>
                  <a:schemeClr val="bg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김나은</a:t>
            </a:r>
            <a:endParaRPr lang="en-US" altLang="ko-KR" sz="2400" dirty="0" smtClean="0">
              <a:solidFill>
                <a:schemeClr val="bg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853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492896" y="128464"/>
            <a:ext cx="1872208" cy="972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목차</a:t>
            </a:r>
            <a:endParaRPr lang="ko-KR" altLang="en-US" sz="36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10344" y="1136576"/>
            <a:ext cx="6237312" cy="8419700"/>
            <a:chOff x="620688" y="1501852"/>
            <a:chExt cx="6237312" cy="8419700"/>
          </a:xfrm>
        </p:grpSpPr>
        <p:sp>
          <p:nvSpPr>
            <p:cNvPr id="6" name="직사각형 5"/>
            <p:cNvSpPr/>
            <p:nvPr/>
          </p:nvSpPr>
          <p:spPr>
            <a:xfrm>
              <a:off x="3689648" y="1525688"/>
              <a:ext cx="3168352" cy="8395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>
                <a:lnSpc>
                  <a:spcPct val="200000"/>
                </a:lnSpc>
              </a:pPr>
              <a:r>
                <a:rPr lang="en-US" altLang="ko-KR" sz="24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15. </a:t>
              </a:r>
              <a:r>
                <a:rPr lang="ko-KR" altLang="en-US" sz="24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상속</a:t>
              </a:r>
              <a:endParaRPr lang="en-US" altLang="ko-KR" sz="24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24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16. </a:t>
              </a:r>
              <a:r>
                <a:rPr lang="ko-KR" altLang="en-US" sz="24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추상클래스</a:t>
              </a:r>
              <a:endParaRPr lang="en-US" altLang="ko-KR" sz="24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24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17. </a:t>
              </a:r>
              <a:r>
                <a:rPr lang="ko-KR" altLang="en-US" sz="24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인터페이스</a:t>
              </a:r>
              <a:endParaRPr lang="en-US" altLang="ko-KR" sz="24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620688" y="1501852"/>
              <a:ext cx="3168352" cy="8395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457200" indent="-457200">
                <a:lnSpc>
                  <a:spcPct val="200000"/>
                </a:lnSpc>
                <a:buAutoNum type="arabicPeriod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JAVA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언어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?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특징</a:t>
              </a:r>
              <a:endParaRPr lang="en-US" altLang="ko-KR" sz="2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자바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4.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변수 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변수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데이터형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5.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배열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6.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이차원 배열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7.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연산자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8. </a:t>
              </a:r>
              <a:r>
                <a:rPr lang="ko-KR" altLang="en-US" sz="2000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제어문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9.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객체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10.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객체지향 프로그래밍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11.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객체지향 언어의 특징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12.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클래스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13. </a:t>
              </a:r>
              <a:r>
                <a:rPr lang="ko-KR" altLang="en-US" sz="2000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생성자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14. </a:t>
              </a:r>
              <a:r>
                <a:rPr lang="ko-KR" altLang="en-US" sz="2000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메소드와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 오버로딩</a:t>
              </a:r>
              <a:endParaRPr lang="en-US" altLang="ko-KR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9975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4644" y="56456"/>
            <a:ext cx="6408712" cy="464240"/>
          </a:xfrm>
        </p:spPr>
        <p:txBody>
          <a:bodyPr/>
          <a:lstStyle/>
          <a:p>
            <a:r>
              <a:rPr lang="en-US" altLang="ko-KR" sz="2000" dirty="0" smtClean="0">
                <a:latin typeface="+mn-ea"/>
                <a:ea typeface="+mn-ea"/>
              </a:rPr>
              <a:t>1. JAVA </a:t>
            </a:r>
            <a:r>
              <a:rPr lang="ko-KR" altLang="en-US" sz="2000" dirty="0" smtClean="0">
                <a:latin typeface="+mn-ea"/>
                <a:ea typeface="+mn-ea"/>
              </a:rPr>
              <a:t>언어</a:t>
            </a:r>
            <a:r>
              <a:rPr lang="en-US" altLang="ko-KR" sz="2000" dirty="0" smtClean="0">
                <a:latin typeface="+mn-ea"/>
                <a:ea typeface="+mn-ea"/>
              </a:rPr>
              <a:t>?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4644" y="632520"/>
            <a:ext cx="6408712" cy="324036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ko-KR" altLang="en-US" sz="1200" b="0" dirty="0" smtClean="0">
                <a:latin typeface="+mn-ea"/>
              </a:rPr>
              <a:t>프로그래밍 언어 </a:t>
            </a:r>
            <a:r>
              <a:rPr lang="en-US" altLang="ko-KR" sz="1200" b="0" dirty="0" smtClean="0">
                <a:latin typeface="+mn-ea"/>
              </a:rPr>
              <a:t>: </a:t>
            </a:r>
            <a:r>
              <a:rPr lang="ko-KR" altLang="en-US" sz="1200" b="0" dirty="0" smtClean="0">
                <a:latin typeface="+mn-ea"/>
              </a:rPr>
              <a:t>문제 해결 방법을 나타내기 위해 특정 단어와 기호를 사</a:t>
            </a:r>
            <a:r>
              <a:rPr lang="en-US" altLang="ko-KR" sz="1200" b="0" dirty="0" smtClean="0">
                <a:latin typeface="+mn-ea"/>
              </a:rPr>
              <a:t>		</a:t>
            </a:r>
            <a:r>
              <a:rPr lang="ko-KR" altLang="en-US" sz="1200" b="0" dirty="0" smtClean="0">
                <a:latin typeface="+mn-ea"/>
              </a:rPr>
              <a:t>용한 명령문들의 집합</a:t>
            </a:r>
            <a:r>
              <a:rPr lang="en-US" altLang="ko-KR" sz="1200" b="0" dirty="0" smtClean="0">
                <a:latin typeface="+mn-ea"/>
              </a:rPr>
              <a:t> </a:t>
            </a:r>
          </a:p>
          <a:p>
            <a:pPr>
              <a:buFont typeface="Wingdings" pitchFamily="2" charset="2"/>
              <a:buChar char="§"/>
            </a:pPr>
            <a:r>
              <a:rPr lang="ko-KR" altLang="en-US" sz="1200" b="0" dirty="0" smtClean="0">
                <a:latin typeface="+mn-ea"/>
              </a:rPr>
              <a:t>배경</a:t>
            </a:r>
            <a:endParaRPr lang="en-US" altLang="ko-KR" sz="1200" b="0" dirty="0" smtClean="0">
              <a:latin typeface="+mn-ea"/>
            </a:endParaRPr>
          </a:p>
          <a:p>
            <a:pPr lvl="2">
              <a:buFont typeface="Arial" pitchFamily="34" charset="0"/>
              <a:buChar char="•"/>
            </a:pPr>
            <a:r>
              <a:rPr lang="ko-KR" altLang="en-US" sz="1200" b="0" dirty="0" smtClean="0">
                <a:latin typeface="+mn-ea"/>
              </a:rPr>
              <a:t>특정 컴퓨터마다 실행 파일을 만드는 </a:t>
            </a:r>
            <a:r>
              <a:rPr lang="en-US" altLang="ko-KR" sz="1200" b="0" dirty="0" smtClean="0">
                <a:latin typeface="+mn-ea"/>
              </a:rPr>
              <a:t>C</a:t>
            </a:r>
            <a:r>
              <a:rPr lang="ko-KR" altLang="en-US" sz="1200" b="0" dirty="0" smtClean="0">
                <a:latin typeface="+mn-ea"/>
              </a:rPr>
              <a:t>언어의 문제점</a:t>
            </a:r>
            <a:endParaRPr lang="en-US" altLang="ko-KR" sz="1200" b="0" dirty="0" smtClean="0">
              <a:latin typeface="+mn-ea"/>
            </a:endParaRPr>
          </a:p>
          <a:p>
            <a:pPr lvl="2">
              <a:buFont typeface="Arial" pitchFamily="34" charset="0"/>
              <a:buChar char="•"/>
            </a:pPr>
            <a:r>
              <a:rPr lang="ko-KR" altLang="en-US" sz="1200" dirty="0" smtClean="0">
                <a:latin typeface="+mn-ea"/>
              </a:rPr>
              <a:t>가전 제품의 긴 수명으로 인한 완벽한 호환성 및 네트워크를 통한 시스템 업그레이드가 가능한 언어의 필요성</a:t>
            </a:r>
            <a:endParaRPr lang="en-US" altLang="ko-KR" sz="1200" dirty="0" smtClean="0">
              <a:latin typeface="+mn-ea"/>
            </a:endParaRPr>
          </a:p>
          <a:p>
            <a:pPr lvl="2">
              <a:buFont typeface="Arial" pitchFamily="34" charset="0"/>
              <a:buChar char="•"/>
            </a:pPr>
            <a:r>
              <a:rPr lang="en-US" altLang="ko-KR" sz="1200" b="0" dirty="0" smtClean="0">
                <a:latin typeface="+mn-ea"/>
              </a:rPr>
              <a:t>C++ </a:t>
            </a:r>
            <a:r>
              <a:rPr lang="ko-KR" altLang="en-US" sz="1200" b="0" dirty="0" smtClean="0">
                <a:latin typeface="+mn-ea"/>
              </a:rPr>
              <a:t>언어의 복잡성</a:t>
            </a:r>
            <a:endParaRPr lang="en-US" altLang="ko-KR" sz="1200" b="0" dirty="0" smtClean="0">
              <a:latin typeface="+mn-ea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200" b="0" dirty="0" smtClean="0">
                <a:latin typeface="+mn-ea"/>
              </a:rPr>
              <a:t>JAVA</a:t>
            </a:r>
            <a:r>
              <a:rPr lang="ko-KR" altLang="en-US" sz="1200" b="0" dirty="0" smtClean="0">
                <a:latin typeface="+mn-ea"/>
              </a:rPr>
              <a:t>는</a:t>
            </a:r>
            <a:r>
              <a:rPr lang="en-US" altLang="ko-KR" sz="1200" b="0" dirty="0" smtClean="0">
                <a:latin typeface="+mn-ea"/>
              </a:rPr>
              <a:t>…</a:t>
            </a:r>
          </a:p>
          <a:p>
            <a:pPr lvl="2">
              <a:buFont typeface="Arial" pitchFamily="34" charset="0"/>
              <a:buChar char="•"/>
            </a:pPr>
            <a:r>
              <a:rPr lang="en-US" altLang="ko-KR" sz="1200" dirty="0" smtClean="0">
                <a:latin typeface="+mn-ea"/>
              </a:rPr>
              <a:t>1991 </a:t>
            </a:r>
            <a:r>
              <a:rPr lang="ko-KR" altLang="en-US" sz="1200" dirty="0" err="1" smtClean="0">
                <a:latin typeface="+mn-ea"/>
              </a:rPr>
              <a:t>선마이크로시스템즈의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ko-KR" altLang="en-US" sz="1200" dirty="0" err="1" smtClean="0">
                <a:latin typeface="+mn-ea"/>
              </a:rPr>
              <a:t>제임스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ko-KR" altLang="en-US" sz="1200" dirty="0" err="1" smtClean="0">
                <a:latin typeface="+mn-ea"/>
              </a:rPr>
              <a:t>고슬링을</a:t>
            </a:r>
            <a:r>
              <a:rPr lang="ko-KR" altLang="en-US" sz="1200" dirty="0" smtClean="0">
                <a:latin typeface="+mn-ea"/>
              </a:rPr>
              <a:t> 주축으로 개발</a:t>
            </a:r>
            <a:endParaRPr lang="en-US" altLang="ko-KR" sz="1200" dirty="0" smtClean="0">
              <a:latin typeface="+mn-ea"/>
            </a:endParaRPr>
          </a:p>
          <a:p>
            <a:pPr lvl="2">
              <a:buFont typeface="Arial" pitchFamily="34" charset="0"/>
              <a:buChar char="•"/>
            </a:pPr>
            <a:r>
              <a:rPr lang="en-US" altLang="ko-KR" sz="1200" dirty="0" smtClean="0">
                <a:latin typeface="+mn-ea"/>
              </a:rPr>
              <a:t>1991 Oak </a:t>
            </a:r>
            <a:r>
              <a:rPr lang="ko-KR" altLang="en-US" sz="1200" dirty="0" smtClean="0">
                <a:latin typeface="+mn-ea"/>
              </a:rPr>
              <a:t>언어 개발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가전 제품과 정보기기를 통합하는 새로운 </a:t>
            </a:r>
            <a:r>
              <a:rPr lang="ko-KR" altLang="en-US" sz="1200" dirty="0" err="1" smtClean="0">
                <a:latin typeface="+mn-ea"/>
              </a:rPr>
              <a:t>인터페이</a:t>
            </a:r>
            <a:r>
              <a:rPr lang="en-US" altLang="ko-KR" sz="1200" dirty="0" smtClean="0">
                <a:latin typeface="+mn-ea"/>
              </a:rPr>
              <a:t>		      </a:t>
            </a:r>
            <a:r>
              <a:rPr lang="ko-KR" altLang="en-US" sz="1200" dirty="0" err="1" smtClean="0">
                <a:latin typeface="+mn-ea"/>
              </a:rPr>
              <a:t>스를</a:t>
            </a:r>
            <a:r>
              <a:rPr lang="ko-KR" altLang="en-US" sz="1200" dirty="0" smtClean="0">
                <a:latin typeface="+mn-ea"/>
              </a:rPr>
              <a:t> 제공하는 언어 </a:t>
            </a:r>
            <a:r>
              <a:rPr lang="en-US" altLang="ko-KR" sz="1200" dirty="0" smtClean="0">
                <a:latin typeface="+mn-ea"/>
              </a:rPr>
              <a:t>( </a:t>
            </a:r>
            <a:r>
              <a:rPr lang="ko-KR" altLang="en-US" sz="1200" dirty="0" smtClean="0">
                <a:latin typeface="+mn-ea"/>
              </a:rPr>
              <a:t>현재 </a:t>
            </a:r>
            <a:r>
              <a:rPr lang="en-US" altLang="ko-KR" sz="1200" dirty="0" smtClean="0">
                <a:latin typeface="+mn-ea"/>
              </a:rPr>
              <a:t>JAVA</a:t>
            </a:r>
            <a:r>
              <a:rPr lang="ko-KR" altLang="en-US" sz="1200" dirty="0" smtClean="0">
                <a:latin typeface="+mn-ea"/>
              </a:rPr>
              <a:t>언어의 전 모습 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 lvl="2">
              <a:buFont typeface="Arial" pitchFamily="34" charset="0"/>
              <a:buChar char="•"/>
            </a:pPr>
            <a:r>
              <a:rPr lang="en-US" altLang="ko-KR" sz="1200" b="0" dirty="0" smtClean="0">
                <a:latin typeface="+mn-ea"/>
              </a:rPr>
              <a:t>1995 JAVA</a:t>
            </a:r>
            <a:r>
              <a:rPr lang="ko-KR" altLang="en-US" sz="1200" b="0" dirty="0" smtClean="0">
                <a:latin typeface="+mn-ea"/>
              </a:rPr>
              <a:t>로 이름을 바꾸며 공개</a:t>
            </a:r>
            <a:endParaRPr lang="en-US" altLang="ko-KR" sz="1200" b="0" dirty="0" smtClean="0">
              <a:latin typeface="+mn-ea"/>
            </a:endParaRPr>
          </a:p>
          <a:p>
            <a:pPr lvl="2">
              <a:buFont typeface="Arial" pitchFamily="34" charset="0"/>
              <a:buChar char="•"/>
            </a:pPr>
            <a:r>
              <a:rPr lang="en-US" altLang="ko-KR" sz="1200" dirty="0" smtClean="0">
                <a:latin typeface="+mn-ea"/>
              </a:rPr>
              <a:t>1996 JAVA 1.0</a:t>
            </a:r>
            <a:r>
              <a:rPr lang="ko-KR" altLang="en-US" sz="1200" dirty="0" smtClean="0">
                <a:latin typeface="+mn-ea"/>
              </a:rPr>
              <a:t> 버전 발표</a:t>
            </a:r>
            <a:endParaRPr lang="en-US" altLang="ko-KR" sz="1200" dirty="0" smtClean="0">
              <a:latin typeface="+mn-ea"/>
            </a:endParaRPr>
          </a:p>
          <a:p>
            <a:pPr lvl="2">
              <a:buFont typeface="Arial" pitchFamily="34" charset="0"/>
              <a:buChar char="•"/>
            </a:pPr>
            <a:endParaRPr lang="en-US" altLang="ko-KR" sz="1200" b="0" dirty="0" smtClean="0">
              <a:latin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24644" y="380087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>
                <a:latin typeface="+mn-ea"/>
                <a:ea typeface="+mn-ea"/>
              </a:rPr>
              <a:t>2. </a:t>
            </a:r>
            <a:r>
              <a:rPr lang="ko-KR" altLang="en-US" sz="2000" dirty="0" smtClean="0">
                <a:latin typeface="+mn-ea"/>
                <a:ea typeface="+mn-ea"/>
              </a:rPr>
              <a:t>특징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16632" y="5457056"/>
            <a:ext cx="6624736" cy="37273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완벽한 객체지향언어</a:t>
            </a:r>
            <a:endParaRPr lang="en-US" altLang="ko-KR" sz="1200" b="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플랫폼에 독립적</a:t>
            </a:r>
            <a:r>
              <a:rPr lang="en-US" altLang="ko-KR" sz="1200" b="0" dirty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( VM</a:t>
            </a:r>
            <a:r>
              <a:rPr lang="ko-KR" altLang="en-US" sz="1200" b="0" dirty="0" smtClean="0">
                <a:latin typeface="+mn-ea"/>
              </a:rPr>
              <a:t>위에서 실행 </a:t>
            </a:r>
            <a:r>
              <a:rPr lang="en-US" altLang="ko-KR" sz="1200" b="0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컴파일러와 인터프리터 언어 두 가지의 특징을 모두 가진다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단순하고 안전하다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분산 처리에 용이하다</a:t>
            </a:r>
            <a:r>
              <a:rPr lang="en-US" altLang="ko-KR" sz="1200" b="0" dirty="0" smtClean="0">
                <a:latin typeface="+mn-ea"/>
              </a:rPr>
              <a:t>. ( </a:t>
            </a:r>
            <a:r>
              <a:rPr lang="ko-KR" altLang="en-US" sz="1200" b="0" dirty="0" smtClean="0">
                <a:latin typeface="+mn-ea"/>
              </a:rPr>
              <a:t>네트워크에 강함 </a:t>
            </a:r>
            <a:r>
              <a:rPr lang="en-US" altLang="ko-KR" sz="1200" b="0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안전하다</a:t>
            </a:r>
            <a:r>
              <a:rPr lang="en-US" altLang="ko-KR" sz="1200" b="0" dirty="0" smtClean="0">
                <a:latin typeface="+mn-ea"/>
              </a:rPr>
              <a:t>. (</a:t>
            </a:r>
            <a:r>
              <a:rPr lang="ko-KR" altLang="en-US" sz="1200" b="0" dirty="0" smtClean="0">
                <a:latin typeface="+mn-ea"/>
              </a:rPr>
              <a:t>보안에 강함</a:t>
            </a:r>
            <a:r>
              <a:rPr lang="en-US" altLang="ko-KR" sz="1200" b="0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err="1" smtClean="0">
                <a:latin typeface="+mn-ea"/>
              </a:rPr>
              <a:t>멀티스레드를</a:t>
            </a:r>
            <a:r>
              <a:rPr lang="ko-KR" altLang="en-US" sz="1200" b="0" dirty="0" smtClean="0">
                <a:latin typeface="+mn-ea"/>
              </a:rPr>
              <a:t> 지원한다</a:t>
            </a:r>
            <a:r>
              <a:rPr lang="en-US" altLang="ko-KR" sz="1200" b="0" dirty="0" smtClean="0">
                <a:latin typeface="+mn-ea"/>
              </a:rPr>
              <a:t>. (</a:t>
            </a:r>
            <a:r>
              <a:rPr lang="ko-KR" altLang="en-US" sz="1200" b="0" dirty="0" smtClean="0">
                <a:latin typeface="+mn-ea"/>
              </a:rPr>
              <a:t>속도가 빠르다</a:t>
            </a:r>
            <a:r>
              <a:rPr lang="en-US" altLang="ko-KR" sz="1200" b="0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동적이다</a:t>
            </a:r>
            <a:r>
              <a:rPr lang="en-US" altLang="ko-KR" sz="1200" b="0" dirty="0" smtClean="0">
                <a:latin typeface="+mn-ea"/>
              </a:rPr>
              <a:t>. ( </a:t>
            </a:r>
            <a:r>
              <a:rPr lang="ko-KR" altLang="en-US" sz="1200" b="0" dirty="0" smtClean="0">
                <a:latin typeface="+mn-ea"/>
              </a:rPr>
              <a:t>라이브러리의 확장이 용이하다</a:t>
            </a:r>
            <a:r>
              <a:rPr lang="en-US" altLang="ko-KR" sz="1200" b="0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견고하다</a:t>
            </a:r>
            <a:endParaRPr lang="en-US" altLang="ko-KR" sz="1200" b="0" dirty="0" smtClean="0">
              <a:latin typeface="+mn-ea"/>
            </a:endParaRPr>
          </a:p>
          <a:p>
            <a:pPr marL="288036" lvl="3" indent="0">
              <a:lnSpc>
                <a:spcPct val="150000"/>
              </a:lnSpc>
              <a:buNone/>
            </a:pPr>
            <a:r>
              <a:rPr lang="ko-KR" altLang="en-US" sz="1200" dirty="0" smtClean="0">
                <a:latin typeface="+mn-ea"/>
              </a:rPr>
              <a:t>포인터를 사용하지 않는다</a:t>
            </a:r>
            <a:r>
              <a:rPr lang="en-US" altLang="ko-KR" sz="1200" dirty="0" smtClean="0">
                <a:latin typeface="+mn-ea"/>
              </a:rPr>
              <a:t>.	        </a:t>
            </a:r>
            <a:r>
              <a:rPr lang="ko-KR" altLang="en-US" sz="1200" dirty="0" smtClean="0">
                <a:latin typeface="+mn-ea"/>
              </a:rPr>
              <a:t>실행시간에 발생하는 에러를 처리한다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  <a:p>
            <a:pPr marL="288036" lvl="3" indent="0">
              <a:lnSpc>
                <a:spcPct val="150000"/>
              </a:lnSpc>
              <a:buNone/>
            </a:pPr>
            <a:r>
              <a:rPr lang="ko-KR" altLang="en-US" sz="1200" dirty="0" smtClean="0">
                <a:latin typeface="+mn-ea"/>
              </a:rPr>
              <a:t>자동으로 </a:t>
            </a:r>
            <a:r>
              <a:rPr lang="en-US" altLang="ko-KR" sz="1200" dirty="0" smtClean="0">
                <a:latin typeface="+mn-ea"/>
              </a:rPr>
              <a:t>garbage collection </a:t>
            </a:r>
            <a:r>
              <a:rPr lang="ko-KR" altLang="en-US" sz="1200" dirty="0" smtClean="0">
                <a:latin typeface="+mn-ea"/>
              </a:rPr>
              <a:t>수행 → 사용하지 않는 객체는 자동으로 사라짐</a:t>
            </a:r>
            <a:endParaRPr lang="en-US" altLang="ko-KR" sz="1200" dirty="0" smtClean="0">
              <a:latin typeface="+mn-ea"/>
            </a:endParaRPr>
          </a:p>
          <a:p>
            <a:pPr marL="288036" lvl="3" indent="0">
              <a:lnSpc>
                <a:spcPct val="150000"/>
              </a:lnSpc>
              <a:buNone/>
            </a:pPr>
            <a:r>
              <a:rPr lang="ko-KR" altLang="en-US" sz="1200" dirty="0" smtClean="0">
                <a:latin typeface="+mn-ea"/>
              </a:rPr>
              <a:t>엄격한 </a:t>
            </a:r>
            <a:r>
              <a:rPr lang="ko-KR" altLang="en-US" sz="1200" dirty="0" err="1" smtClean="0">
                <a:latin typeface="+mn-ea"/>
              </a:rPr>
              <a:t>데이터형</a:t>
            </a:r>
            <a:r>
              <a:rPr lang="ko-KR" altLang="en-US" sz="1200" dirty="0" smtClean="0">
                <a:latin typeface="+mn-ea"/>
              </a:rPr>
              <a:t> 검사를 통해 에러를 조기에 발견</a:t>
            </a:r>
            <a:endParaRPr lang="en-US" altLang="ko-KR" sz="1200" dirty="0" smtClean="0">
              <a:latin typeface="+mn-ea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260648" y="4088904"/>
            <a:ext cx="6336704" cy="1254525"/>
            <a:chOff x="260648" y="4994619"/>
            <a:chExt cx="6336704" cy="1254525"/>
          </a:xfrm>
        </p:grpSpPr>
        <p:sp>
          <p:nvSpPr>
            <p:cNvPr id="7" name="직사각형 6"/>
            <p:cNvSpPr/>
            <p:nvPr/>
          </p:nvSpPr>
          <p:spPr>
            <a:xfrm>
              <a:off x="260648" y="5387415"/>
              <a:ext cx="1333670" cy="8532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  <a:latin typeface="+mn-ea"/>
                </a:rPr>
                <a:t>소스</a:t>
              </a:r>
              <a:endParaRPr lang="en-US" altLang="ko-KR" sz="14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+mn-ea"/>
                </a:rPr>
                <a:t>( .java)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75620" y="5395866"/>
              <a:ext cx="1333670" cy="8532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  <a:latin typeface="+mn-ea"/>
                </a:rPr>
                <a:t>바이트코</a:t>
              </a: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드</a:t>
              </a:r>
              <a:endParaRPr lang="en-US" altLang="ko-KR" sz="14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+mn-ea"/>
                </a:rPr>
                <a:t>( .class)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263682" y="5395866"/>
              <a:ext cx="1333670" cy="8532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mtClean="0">
                  <a:solidFill>
                    <a:schemeClr val="tx1"/>
                  </a:solidFill>
                  <a:latin typeface="+mn-ea"/>
                </a:rPr>
                <a:t>실행</a:t>
              </a:r>
              <a:endParaRPr lang="ko-KR" altLang="en-US" sz="14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2" name="직선 화살표 연결선 11"/>
            <p:cNvCxnSpPr>
              <a:stCxn id="7" idx="3"/>
              <a:endCxn id="9" idx="1"/>
            </p:cNvCxnSpPr>
            <p:nvPr/>
          </p:nvCxnSpPr>
          <p:spPr>
            <a:xfrm>
              <a:off x="1594318" y="5814054"/>
              <a:ext cx="1181302" cy="8451"/>
            </a:xfrm>
            <a:prstGeom prst="straightConnector1">
              <a:avLst/>
            </a:prstGeom>
            <a:ln w="19050">
              <a:solidFill>
                <a:schemeClr val="accent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>
              <a:stCxn id="9" idx="3"/>
              <a:endCxn id="10" idx="1"/>
            </p:cNvCxnSpPr>
            <p:nvPr/>
          </p:nvCxnSpPr>
          <p:spPr>
            <a:xfrm>
              <a:off x="4109290" y="5822505"/>
              <a:ext cx="1154392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842343" y="5879812"/>
              <a:ext cx="6316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 smtClean="0">
                  <a:solidFill>
                    <a:schemeClr val="accent3"/>
                  </a:solidFill>
                </a:rPr>
                <a:t>javac</a:t>
              </a:r>
              <a:endParaRPr lang="ko-KR" altLang="en-US" sz="1600" dirty="0">
                <a:solidFill>
                  <a:schemeClr val="accent3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397561" y="5879812"/>
              <a:ext cx="535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solidFill>
                    <a:schemeClr val="accent3"/>
                  </a:solidFill>
                </a:rPr>
                <a:t>java</a:t>
              </a:r>
              <a:endParaRPr lang="ko-KR" altLang="en-US" sz="1600" dirty="0">
                <a:solidFill>
                  <a:schemeClr val="accent3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33563" y="4994619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 smtClean="0">
                  <a:solidFill>
                    <a:schemeClr val="accent3"/>
                  </a:solidFill>
                </a:rPr>
                <a:t>컴파일러</a:t>
              </a:r>
              <a:endParaRPr lang="en-US" altLang="ko-KR" sz="1400" dirty="0" smtClean="0">
                <a:solidFill>
                  <a:schemeClr val="accent3"/>
                </a:solidFill>
              </a:endParaRPr>
            </a:p>
            <a:p>
              <a:pPr algn="ctr"/>
              <a:r>
                <a:rPr lang="ko-KR" altLang="en-US" sz="1400" dirty="0" smtClean="0">
                  <a:solidFill>
                    <a:schemeClr val="accent3"/>
                  </a:solidFill>
                </a:rPr>
                <a:t>명령</a:t>
              </a:r>
              <a:r>
                <a:rPr lang="ko-KR" altLang="en-US" sz="1400" dirty="0">
                  <a:solidFill>
                    <a:schemeClr val="accent3"/>
                  </a:solidFill>
                </a:rPr>
                <a:t>어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56958" y="4994621"/>
              <a:ext cx="14590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 smtClean="0">
                  <a:solidFill>
                    <a:schemeClr val="accent3"/>
                  </a:solidFill>
                </a:rPr>
                <a:t>인터프리터</a:t>
              </a:r>
              <a:r>
                <a:rPr lang="en-US" altLang="ko-KR" sz="1400" dirty="0" smtClean="0">
                  <a:solidFill>
                    <a:schemeClr val="accent3"/>
                  </a:solidFill>
                </a:rPr>
                <a:t>( </a:t>
              </a:r>
              <a:r>
                <a:rPr lang="en-US" altLang="ko-KR" sz="1400" dirty="0" err="1" smtClean="0">
                  <a:solidFill>
                    <a:schemeClr val="accent3"/>
                  </a:solidFill>
                </a:rPr>
                <a:t>vm</a:t>
              </a:r>
              <a:r>
                <a:rPr lang="en-US" altLang="ko-KR" sz="1400" dirty="0" smtClean="0">
                  <a:solidFill>
                    <a:schemeClr val="accent3"/>
                  </a:solidFill>
                </a:rPr>
                <a:t>)</a:t>
              </a:r>
            </a:p>
            <a:p>
              <a:pPr algn="ctr"/>
              <a:r>
                <a:rPr lang="ko-KR" altLang="en-US" sz="1400" dirty="0" smtClean="0">
                  <a:solidFill>
                    <a:schemeClr val="accent3"/>
                  </a:solidFill>
                </a:rPr>
                <a:t>명령</a:t>
              </a:r>
              <a:r>
                <a:rPr lang="ko-KR" altLang="en-US" sz="1400" dirty="0">
                  <a:solidFill>
                    <a:schemeClr val="accent3"/>
                  </a:solidFill>
                </a:rPr>
                <a:t>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19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4644" y="200472"/>
            <a:ext cx="6408712" cy="464240"/>
          </a:xfrm>
        </p:spPr>
        <p:txBody>
          <a:bodyPr/>
          <a:lstStyle/>
          <a:p>
            <a:r>
              <a:rPr lang="en-US" altLang="ko-KR" sz="2400" dirty="0" smtClean="0">
                <a:latin typeface="+mn-ea"/>
                <a:ea typeface="+mn-ea"/>
              </a:rPr>
              <a:t>3. </a:t>
            </a:r>
            <a:r>
              <a:rPr lang="ko-KR" altLang="en-US" sz="2400" dirty="0" smtClean="0">
                <a:latin typeface="+mn-ea"/>
                <a:ea typeface="+mn-ea"/>
              </a:rPr>
              <a:t>자바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4644" y="776536"/>
            <a:ext cx="6408712" cy="4752528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§"/>
            </a:pPr>
            <a:r>
              <a:rPr lang="ko-KR" altLang="en-US" sz="1300" b="0" dirty="0" smtClean="0">
                <a:latin typeface="+mn-ea"/>
              </a:rPr>
              <a:t>프로그래밍 언어 </a:t>
            </a:r>
            <a:r>
              <a:rPr lang="en-US" altLang="ko-KR" sz="1300" b="0" dirty="0" smtClean="0">
                <a:latin typeface="+mn-ea"/>
              </a:rPr>
              <a:t>: </a:t>
            </a:r>
            <a:r>
              <a:rPr lang="ko-KR" altLang="en-US" sz="1300" b="0" dirty="0" smtClean="0">
                <a:latin typeface="+mn-ea"/>
              </a:rPr>
              <a:t>문제 해결 방법을 나타내기 위해 특정 단어와 기호를 사</a:t>
            </a:r>
            <a:r>
              <a:rPr lang="en-US" altLang="ko-KR" sz="1300" b="0" dirty="0" smtClean="0">
                <a:latin typeface="+mn-ea"/>
              </a:rPr>
              <a:t>		</a:t>
            </a:r>
            <a:r>
              <a:rPr lang="ko-KR" altLang="en-US" sz="1300" b="0" dirty="0" smtClean="0">
                <a:latin typeface="+mn-ea"/>
              </a:rPr>
              <a:t>용한 명령문들의 집합</a:t>
            </a:r>
            <a:r>
              <a:rPr lang="en-US" altLang="ko-KR" sz="1300" b="0" dirty="0" smtClean="0">
                <a:latin typeface="+mn-ea"/>
              </a:rPr>
              <a:t> </a:t>
            </a:r>
          </a:p>
          <a:p>
            <a:pPr>
              <a:spcAft>
                <a:spcPts val="800"/>
              </a:spcAft>
              <a:buFont typeface="Wingdings" pitchFamily="2" charset="2"/>
              <a:buChar char="§"/>
            </a:pPr>
            <a:r>
              <a:rPr lang="ko-KR" altLang="en-US" sz="1300" b="0" dirty="0" smtClean="0">
                <a:latin typeface="+mn-ea"/>
              </a:rPr>
              <a:t>배경</a:t>
            </a:r>
            <a:endParaRPr lang="en-US" altLang="ko-KR" sz="1300" b="0" dirty="0" smtClean="0">
              <a:latin typeface="+mn-ea"/>
            </a:endParaRP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ko-KR" altLang="en-US" sz="1300" b="0" dirty="0" smtClean="0">
                <a:latin typeface="+mn-ea"/>
              </a:rPr>
              <a:t>특정 컴퓨터마다 실행 파일을 만드는 </a:t>
            </a:r>
            <a:r>
              <a:rPr lang="en-US" altLang="ko-KR" sz="1300" b="0" dirty="0" smtClean="0">
                <a:latin typeface="+mn-ea"/>
              </a:rPr>
              <a:t>C</a:t>
            </a:r>
            <a:r>
              <a:rPr lang="ko-KR" altLang="en-US" sz="1300" b="0" dirty="0" smtClean="0">
                <a:latin typeface="+mn-ea"/>
              </a:rPr>
              <a:t>언어의 문제점</a:t>
            </a:r>
            <a:endParaRPr lang="en-US" altLang="ko-KR" sz="1300" b="0" dirty="0" smtClean="0">
              <a:latin typeface="+mn-ea"/>
            </a:endParaRP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ko-KR" altLang="en-US" sz="1300" dirty="0" smtClean="0">
                <a:latin typeface="+mn-ea"/>
              </a:rPr>
              <a:t>가전 제품의 긴 수명으로 인한 완벽한 호환성 및 네트워크를 통한 시스템 업그레이드가 가능한 언어의 필요성</a:t>
            </a:r>
            <a:endParaRPr lang="en-US" altLang="ko-KR" sz="1300" dirty="0" smtClean="0">
              <a:latin typeface="+mn-ea"/>
            </a:endParaRP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en-US" altLang="ko-KR" sz="1300" b="0" dirty="0" smtClean="0">
                <a:latin typeface="+mn-ea"/>
              </a:rPr>
              <a:t>C++ </a:t>
            </a:r>
            <a:r>
              <a:rPr lang="ko-KR" altLang="en-US" sz="1300" b="0" dirty="0" smtClean="0">
                <a:latin typeface="+mn-ea"/>
              </a:rPr>
              <a:t>언어의 복잡성</a:t>
            </a:r>
            <a:endParaRPr lang="en-US" altLang="ko-KR" sz="1300" b="0" dirty="0" smtClean="0">
              <a:latin typeface="+mn-ea"/>
            </a:endParaRPr>
          </a:p>
          <a:p>
            <a:pPr>
              <a:spcAft>
                <a:spcPts val="800"/>
              </a:spcAft>
              <a:buFont typeface="Wingdings" pitchFamily="2" charset="2"/>
              <a:buChar char="§"/>
            </a:pPr>
            <a:r>
              <a:rPr lang="en-US" altLang="ko-KR" sz="1300" b="0" dirty="0" smtClean="0">
                <a:latin typeface="+mn-ea"/>
              </a:rPr>
              <a:t>JAVA</a:t>
            </a:r>
            <a:r>
              <a:rPr lang="ko-KR" altLang="en-US" sz="1300" b="0" dirty="0" smtClean="0">
                <a:latin typeface="+mn-ea"/>
              </a:rPr>
              <a:t>는</a:t>
            </a:r>
            <a:r>
              <a:rPr lang="en-US" altLang="ko-KR" sz="1300" b="0" dirty="0" smtClean="0">
                <a:latin typeface="+mn-ea"/>
              </a:rPr>
              <a:t>…</a:t>
            </a: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en-US" altLang="ko-KR" sz="1300" dirty="0">
                <a:latin typeface="+mn-ea"/>
              </a:rPr>
              <a:t>1991 </a:t>
            </a:r>
            <a:r>
              <a:rPr lang="ko-KR" altLang="en-US" sz="1300" dirty="0" err="1">
                <a:latin typeface="+mn-ea"/>
              </a:rPr>
              <a:t>선마이크로시스템즈의</a:t>
            </a:r>
            <a:r>
              <a:rPr lang="ko-KR" altLang="en-US" sz="1300" dirty="0">
                <a:latin typeface="+mn-ea"/>
              </a:rPr>
              <a:t> </a:t>
            </a:r>
            <a:r>
              <a:rPr lang="ko-KR" altLang="en-US" sz="1300" dirty="0" err="1">
                <a:latin typeface="+mn-ea"/>
              </a:rPr>
              <a:t>제임스</a:t>
            </a:r>
            <a:r>
              <a:rPr lang="ko-KR" altLang="en-US" sz="1300" dirty="0">
                <a:latin typeface="+mn-ea"/>
              </a:rPr>
              <a:t> </a:t>
            </a:r>
            <a:r>
              <a:rPr lang="ko-KR" altLang="en-US" sz="1300" dirty="0" err="1">
                <a:latin typeface="+mn-ea"/>
              </a:rPr>
              <a:t>고슬링을</a:t>
            </a:r>
            <a:r>
              <a:rPr lang="ko-KR" altLang="en-US" sz="1300" dirty="0">
                <a:latin typeface="+mn-ea"/>
              </a:rPr>
              <a:t> 주축으로 개발</a:t>
            </a:r>
            <a:endParaRPr lang="en-US" altLang="ko-KR" sz="1300" dirty="0">
              <a:latin typeface="+mn-ea"/>
            </a:endParaRP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en-US" altLang="ko-KR" sz="1300" dirty="0">
                <a:latin typeface="+mn-ea"/>
              </a:rPr>
              <a:t>1991 Oak </a:t>
            </a:r>
            <a:r>
              <a:rPr lang="ko-KR" altLang="en-US" sz="1300" dirty="0">
                <a:latin typeface="+mn-ea"/>
              </a:rPr>
              <a:t>언어 개발 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가전 제품과 정보기기를 통합하는 새로운 </a:t>
            </a:r>
            <a:r>
              <a:rPr lang="ko-KR" altLang="en-US" sz="1300" dirty="0" err="1">
                <a:latin typeface="+mn-ea"/>
              </a:rPr>
              <a:t>인터페이</a:t>
            </a:r>
            <a:r>
              <a:rPr lang="en-US" altLang="ko-KR" sz="1300" dirty="0">
                <a:latin typeface="+mn-ea"/>
              </a:rPr>
              <a:t>		      </a:t>
            </a:r>
            <a:r>
              <a:rPr lang="ko-KR" altLang="en-US" sz="1300" dirty="0" err="1">
                <a:latin typeface="+mn-ea"/>
              </a:rPr>
              <a:t>스를</a:t>
            </a:r>
            <a:r>
              <a:rPr lang="ko-KR" altLang="en-US" sz="1300" dirty="0">
                <a:latin typeface="+mn-ea"/>
              </a:rPr>
              <a:t> 제공하는 언어 </a:t>
            </a:r>
            <a:r>
              <a:rPr lang="en-US" altLang="ko-KR" sz="1300" dirty="0">
                <a:latin typeface="+mn-ea"/>
              </a:rPr>
              <a:t>( </a:t>
            </a:r>
            <a:r>
              <a:rPr lang="ko-KR" altLang="en-US" sz="1300" dirty="0">
                <a:latin typeface="+mn-ea"/>
              </a:rPr>
              <a:t>현재 </a:t>
            </a:r>
            <a:r>
              <a:rPr lang="en-US" altLang="ko-KR" sz="1300" dirty="0">
                <a:latin typeface="+mn-ea"/>
              </a:rPr>
              <a:t>JAVA</a:t>
            </a:r>
            <a:r>
              <a:rPr lang="ko-KR" altLang="en-US" sz="1300" dirty="0">
                <a:latin typeface="+mn-ea"/>
              </a:rPr>
              <a:t>언어의 전 모습 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en-US" altLang="ko-KR" sz="1300" dirty="0">
                <a:latin typeface="+mn-ea"/>
              </a:rPr>
              <a:t>1995 JAVA</a:t>
            </a:r>
            <a:r>
              <a:rPr lang="ko-KR" altLang="en-US" sz="1300" dirty="0">
                <a:latin typeface="+mn-ea"/>
              </a:rPr>
              <a:t>로 이름을 바꾸며 공개</a:t>
            </a:r>
            <a:endParaRPr lang="en-US" altLang="ko-KR" sz="1300" dirty="0">
              <a:latin typeface="+mn-ea"/>
            </a:endParaRP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en-US" altLang="ko-KR" sz="1300" dirty="0">
                <a:latin typeface="+mn-ea"/>
              </a:rPr>
              <a:t>1996 JAVA 1.0</a:t>
            </a:r>
            <a:r>
              <a:rPr lang="ko-KR" altLang="en-US" sz="1300" dirty="0">
                <a:latin typeface="+mn-ea"/>
              </a:rPr>
              <a:t> 버전 </a:t>
            </a:r>
            <a:r>
              <a:rPr lang="ko-KR" altLang="en-US" sz="1300" dirty="0" smtClean="0">
                <a:latin typeface="+mn-ea"/>
              </a:rPr>
              <a:t>발표</a:t>
            </a:r>
            <a:endParaRPr lang="en-US" altLang="ko-KR" sz="1300" b="0" dirty="0" smtClean="0">
              <a:latin typeface="+mn-ea"/>
            </a:endParaRPr>
          </a:p>
          <a:p>
            <a:pPr>
              <a:spcAft>
                <a:spcPts val="800"/>
              </a:spcAft>
              <a:buFont typeface="Wingdings" pitchFamily="2" charset="2"/>
              <a:buChar char="§"/>
            </a:pPr>
            <a:r>
              <a:rPr lang="ko-KR" altLang="en-US" sz="1300" b="0" dirty="0" smtClean="0">
                <a:latin typeface="+mn-ea"/>
              </a:rPr>
              <a:t>자바 개발환경</a:t>
            </a:r>
            <a:r>
              <a:rPr lang="en-US" altLang="ko-KR" sz="1300" b="0" dirty="0">
                <a:latin typeface="+mn-ea"/>
              </a:rPr>
              <a:t> </a:t>
            </a:r>
            <a:r>
              <a:rPr lang="en-US" altLang="ko-KR" sz="1300" b="0" dirty="0" smtClean="0">
                <a:latin typeface="+mn-ea"/>
              </a:rPr>
              <a:t>( JDK : Java Development Kit )</a:t>
            </a:r>
          </a:p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endParaRPr lang="en-US" altLang="ko-KR" sz="1300" b="0" dirty="0" smtClean="0"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66229"/>
              </p:ext>
            </p:extLst>
          </p:nvPr>
        </p:nvGraphicFramePr>
        <p:xfrm>
          <a:off x="404664" y="5601072"/>
          <a:ext cx="6048672" cy="14725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6048672"/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자바 프로그램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JAVA API :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자바가 지원하는 클래스 라이브러리 </a:t>
                      </a:r>
                      <a:endParaRPr lang="en-US" altLang="ko-KR" sz="1200" dirty="0" smtClean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JVM (</a:t>
                      </a:r>
                      <a:r>
                        <a:rPr lang="ko-KR" altLang="en-US" sz="1200" dirty="0" smtClean="0"/>
                        <a:t>자바 가상 머신</a:t>
                      </a:r>
                      <a:r>
                        <a:rPr lang="en-US" altLang="ko-KR" sz="1200" dirty="0" smtClean="0"/>
                        <a:t>) : </a:t>
                      </a:r>
                      <a:r>
                        <a:rPr lang="ko-KR" altLang="en-US" sz="1200" dirty="0" smtClean="0"/>
                        <a:t>바이트 코드를 다양한 플랫폼에 맞는 기계어로 해석하여 실행</a:t>
                      </a:r>
                      <a:r>
                        <a:rPr lang="en-US" altLang="ko-KR" sz="1200" dirty="0" smtClean="0"/>
                        <a:t> 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하드웨어 의존적 플랫폼</a:t>
                      </a:r>
                      <a:r>
                        <a:rPr lang="en-US" altLang="ko-KR" sz="1200" baseline="0" dirty="0" smtClean="0"/>
                        <a:t> (</a:t>
                      </a:r>
                      <a:r>
                        <a:rPr lang="ko-KR" altLang="en-US" sz="1200" baseline="0" dirty="0" smtClean="0"/>
                        <a:t> 윈도우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유닉스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매킨토시 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06960"/>
              </p:ext>
            </p:extLst>
          </p:nvPr>
        </p:nvGraphicFramePr>
        <p:xfrm>
          <a:off x="404664" y="7329264"/>
          <a:ext cx="6048672" cy="24803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04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081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8028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종류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특징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J2SE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- </a:t>
                      </a:r>
                      <a:r>
                        <a:rPr lang="ko-KR" altLang="en-US" sz="1200" dirty="0" smtClean="0"/>
                        <a:t>일반 자바 </a:t>
                      </a:r>
                      <a:r>
                        <a:rPr lang="ko-KR" altLang="en-US" sz="1200" dirty="0" err="1" smtClean="0"/>
                        <a:t>애플레케이션을</a:t>
                      </a:r>
                      <a:r>
                        <a:rPr lang="ko-KR" altLang="en-US" sz="1200" dirty="0" smtClean="0"/>
                        <a:t> 개발하기 위한 기본 자바 개발 환경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J2EE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- </a:t>
                      </a:r>
                      <a:r>
                        <a:rPr lang="ko-KR" altLang="en-US" sz="1200" dirty="0" smtClean="0"/>
                        <a:t>서버 관련 프로그램을 개발하기 위한 자바 개발 환경 </a:t>
                      </a:r>
                      <a:endParaRPr lang="en-US" altLang="ko-KR" sz="1200" dirty="0" smtClean="0"/>
                    </a:p>
                    <a:p>
                      <a:pPr algn="l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- </a:t>
                      </a:r>
                      <a:r>
                        <a:rPr lang="ko-KR" altLang="en-US" sz="1200" dirty="0" smtClean="0"/>
                        <a:t>웹 서버 환경에서 많이 활용됨 </a:t>
                      </a:r>
                      <a:r>
                        <a:rPr lang="en-US" altLang="ko-KR" sz="1200" dirty="0" smtClean="0"/>
                        <a:t>( JSP,</a:t>
                      </a:r>
                      <a:r>
                        <a:rPr lang="en-US" altLang="ko-KR" sz="1200" baseline="0" dirty="0" smtClean="0"/>
                        <a:t> Servlet, EJB </a:t>
                      </a:r>
                      <a:r>
                        <a:rPr lang="ko-KR" altLang="en-US" sz="1200" baseline="0" dirty="0" smtClean="0"/>
                        <a:t>등 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en-US" altLang="ko-KR" sz="12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39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J2ME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- </a:t>
                      </a:r>
                      <a:r>
                        <a:rPr lang="ko-KR" altLang="en-US" sz="1200" dirty="0" smtClean="0"/>
                        <a:t>다양한 제품과 </a:t>
                      </a:r>
                      <a:r>
                        <a:rPr lang="ko-KR" altLang="en-US" sz="1200" dirty="0" err="1" smtClean="0"/>
                        <a:t>임베디드</a:t>
                      </a:r>
                      <a:r>
                        <a:rPr lang="ko-KR" altLang="en-US" sz="1200" dirty="0" smtClean="0"/>
                        <a:t> 기기 프로그램을 개발하기 위한 자바 개발 환경</a:t>
                      </a:r>
                      <a:endParaRPr lang="en-US" altLang="ko-KR" sz="1200" dirty="0" smtClean="0"/>
                    </a:p>
                    <a:p>
                      <a:pPr algn="l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- </a:t>
                      </a:r>
                      <a:r>
                        <a:rPr lang="ko-KR" altLang="en-US" sz="1200" dirty="0" err="1" smtClean="0"/>
                        <a:t>모바일</a:t>
                      </a:r>
                      <a:r>
                        <a:rPr lang="ko-KR" altLang="en-US" sz="1200" dirty="0" smtClean="0"/>
                        <a:t> 환경에서 많이 활용됨 </a:t>
                      </a:r>
                      <a:r>
                        <a:rPr lang="en-US" altLang="ko-KR" sz="1200" dirty="0" smtClean="0"/>
                        <a:t>( PDA,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핸드폰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등 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24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30324" y="200472"/>
            <a:ext cx="6597352" cy="2664296"/>
          </a:xfrm>
          <a:prstGeom prst="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ublic class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클래스 이름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{</a:t>
            </a:r>
          </a:p>
          <a:p>
            <a:pPr>
              <a:lnSpc>
                <a:spcPts val="18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        public static void main(String </a:t>
            </a:r>
            <a:r>
              <a:rPr lang="en-US" altLang="ko-KR" sz="1200" dirty="0" err="1" smtClean="0">
                <a:solidFill>
                  <a:schemeClr val="tx1"/>
                </a:solidFill>
                <a:latin typeface="+mn-ea"/>
              </a:rPr>
              <a:t>args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[ ]){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ko-KR" sz="1200" dirty="0" err="1" smtClean="0">
                <a:solidFill>
                  <a:schemeClr val="tx1"/>
                </a:solidFill>
                <a:latin typeface="+mn-ea"/>
              </a:rPr>
              <a:t>system.out.println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(“Hello JAVA </a:t>
            </a:r>
            <a:r>
              <a:rPr lang="en-US" altLang="ko-KR" sz="1200" dirty="0" err="1" smtClean="0">
                <a:solidFill>
                  <a:schemeClr val="tx1"/>
                </a:solidFill>
                <a:latin typeface="+mn-ea"/>
              </a:rPr>
              <a:t>Wolrd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”);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ko-KR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/*</a:t>
            </a:r>
            <a:r>
              <a:rPr lang="ko-KR" altLang="en-US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주</a:t>
            </a:r>
            <a:endParaRPr lang="en-US" altLang="ko-KR" sz="1200" dirty="0" smtClean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altLang="ko-KR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	    </a:t>
            </a:r>
            <a:r>
              <a:rPr lang="ko-KR" altLang="en-US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석</a:t>
            </a:r>
            <a:r>
              <a:rPr lang="en-US" altLang="ko-KR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*/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	</a:t>
            </a:r>
            <a:r>
              <a:rPr lang="en-US" altLang="ko-KR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//</a:t>
            </a:r>
            <a:r>
              <a:rPr lang="ko-KR" altLang="en-US" sz="1200" dirty="0" smtClean="0">
                <a:solidFill>
                  <a:schemeClr val="accent4">
                    <a:lumMod val="75000"/>
                  </a:schemeClr>
                </a:solidFill>
                <a:latin typeface="+mn-ea"/>
              </a:rPr>
              <a:t>주석</a:t>
            </a:r>
            <a:endParaRPr lang="en-US" altLang="ko-KR" sz="1200" dirty="0" smtClean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        }</a:t>
            </a:r>
          </a:p>
          <a:p>
            <a:pPr>
              <a:lnSpc>
                <a:spcPts val="18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}</a:t>
            </a:r>
          </a:p>
          <a:p>
            <a:pPr>
              <a:lnSpc>
                <a:spcPts val="18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class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클래스 이름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{</a:t>
            </a:r>
          </a:p>
          <a:p>
            <a:pPr>
              <a:lnSpc>
                <a:spcPts val="18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     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실행할 명령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}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24644" y="2864768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>
                <a:latin typeface="+mn-ea"/>
                <a:ea typeface="+mn-ea"/>
              </a:rPr>
              <a:t>4. </a:t>
            </a:r>
            <a:r>
              <a:rPr lang="ko-KR" altLang="en-US" sz="2000" dirty="0" smtClean="0">
                <a:latin typeface="+mn-ea"/>
                <a:ea typeface="+mn-ea"/>
              </a:rPr>
              <a:t>변수 </a:t>
            </a:r>
            <a:r>
              <a:rPr lang="en-US" altLang="ko-KR" sz="1600" dirty="0" smtClean="0">
                <a:latin typeface="+mn-ea"/>
                <a:ea typeface="+mn-ea"/>
              </a:rPr>
              <a:t>- </a:t>
            </a:r>
            <a:r>
              <a:rPr lang="ko-KR" altLang="en-US" sz="1600" dirty="0" smtClean="0">
                <a:latin typeface="+mn-ea"/>
                <a:ea typeface="+mn-ea"/>
              </a:rPr>
              <a:t>변수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112322" y="3368824"/>
            <a:ext cx="6633356" cy="2088232"/>
          </a:xfrm>
        </p:spPr>
        <p:txBody>
          <a:bodyPr>
            <a:noAutofit/>
          </a:bodyPr>
          <a:lstStyle/>
          <a:p>
            <a:pPr lvl="2">
              <a:spcAft>
                <a:spcPts val="800"/>
              </a:spcAft>
              <a:buFont typeface="Arial" pitchFamily="34" charset="0"/>
              <a:buChar char="•"/>
            </a:pPr>
            <a:r>
              <a:rPr lang="ko-KR" altLang="en-US" sz="1400" b="0" dirty="0" smtClean="0">
                <a:latin typeface="+mn-ea"/>
              </a:rPr>
              <a:t>변수란</a:t>
            </a:r>
            <a:r>
              <a:rPr lang="en-US" altLang="ko-KR" sz="1400" b="0" dirty="0" smtClean="0">
                <a:latin typeface="+mn-ea"/>
              </a:rPr>
              <a:t>?</a:t>
            </a:r>
            <a:endParaRPr lang="en-US" altLang="ko-KR" sz="1400" dirty="0">
              <a:latin typeface="+mn-ea"/>
            </a:endParaRPr>
          </a:p>
          <a:p>
            <a:pPr marL="466344" lvl="3" indent="0">
              <a:spcAft>
                <a:spcPts val="800"/>
              </a:spcAft>
              <a:buNone/>
            </a:pPr>
            <a:r>
              <a:rPr lang="ko-KR" altLang="en-US" sz="1200" dirty="0" smtClean="0">
                <a:latin typeface="+mn-ea"/>
              </a:rPr>
              <a:t>데이터가 저장된 기억공간의 이름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데이터는 필요에 따라 변할 수 있으므로 변수라고 함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466344" lvl="3" indent="0">
              <a:spcAft>
                <a:spcPts val="800"/>
              </a:spcAft>
              <a:buNone/>
            </a:pPr>
            <a:r>
              <a:rPr lang="en-US" altLang="ko-KR" sz="1200" dirty="0" smtClean="0">
                <a:latin typeface="+mn-ea"/>
              </a:rPr>
              <a:t>※ </a:t>
            </a:r>
            <a:r>
              <a:rPr lang="ko-KR" altLang="en-US" sz="1200" dirty="0" smtClean="0">
                <a:latin typeface="+mn-ea"/>
              </a:rPr>
              <a:t>변수의 작성 규칙</a:t>
            </a:r>
            <a:endParaRPr lang="en-US" altLang="ko-KR" sz="1200" dirty="0" smtClean="0">
              <a:latin typeface="+mn-ea"/>
            </a:endParaRPr>
          </a:p>
          <a:p>
            <a:pPr marL="466344" lvl="3" indent="0">
              <a:spcAft>
                <a:spcPts val="800"/>
              </a:spcAft>
              <a:buNone/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알파벳 대</a:t>
            </a:r>
            <a:r>
              <a:rPr lang="en-US" altLang="ko-KR" sz="1200" dirty="0" smtClean="0">
                <a:latin typeface="+mn-ea"/>
              </a:rPr>
              <a:t>.</a:t>
            </a:r>
            <a:r>
              <a:rPr lang="ko-KR" altLang="en-US" sz="1200" dirty="0" smtClean="0">
                <a:latin typeface="+mn-ea"/>
              </a:rPr>
              <a:t>소문자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숫자</a:t>
            </a:r>
            <a:r>
              <a:rPr lang="en-US" altLang="ko-KR" sz="1200" dirty="0" smtClean="0">
                <a:latin typeface="+mn-ea"/>
              </a:rPr>
              <a:t>, _ , $ </a:t>
            </a:r>
            <a:r>
              <a:rPr lang="ko-KR" altLang="en-US" sz="1200" dirty="0" smtClean="0">
                <a:latin typeface="+mn-ea"/>
              </a:rPr>
              <a:t>만 사용할 수 있다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466344" lvl="3" indent="0">
              <a:spcAft>
                <a:spcPts val="800"/>
              </a:spcAft>
              <a:buNone/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첫 문자로 숫자는 올 수 없다</a:t>
            </a:r>
            <a:r>
              <a:rPr lang="en-US" altLang="ko-KR" sz="1200" dirty="0" smtClean="0">
                <a:latin typeface="+mn-ea"/>
              </a:rPr>
              <a:t>.		- </a:t>
            </a:r>
            <a:r>
              <a:rPr lang="ko-KR" altLang="en-US" sz="1200" dirty="0" smtClean="0">
                <a:latin typeface="+mn-ea"/>
              </a:rPr>
              <a:t>자바 </a:t>
            </a:r>
            <a:r>
              <a:rPr lang="ko-KR" altLang="en-US" sz="1200" dirty="0" err="1" smtClean="0">
                <a:latin typeface="+mn-ea"/>
              </a:rPr>
              <a:t>예약어는</a:t>
            </a:r>
            <a:r>
              <a:rPr lang="ko-KR" altLang="en-US" sz="1200" dirty="0" smtClean="0">
                <a:latin typeface="+mn-ea"/>
              </a:rPr>
              <a:t> 사용할 수 없다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466344" lvl="3" indent="0">
              <a:spcAft>
                <a:spcPts val="800"/>
              </a:spcAft>
              <a:buNone/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대</a:t>
            </a:r>
            <a:r>
              <a:rPr lang="en-US" altLang="ko-KR" sz="1200" dirty="0" smtClean="0">
                <a:latin typeface="+mn-ea"/>
              </a:rPr>
              <a:t>.</a:t>
            </a:r>
            <a:r>
              <a:rPr lang="ko-KR" altLang="en-US" sz="1200" dirty="0" smtClean="0">
                <a:latin typeface="+mn-ea"/>
              </a:rPr>
              <a:t>소문자를 구분한다</a:t>
            </a:r>
            <a:r>
              <a:rPr lang="en-US" altLang="ko-KR" sz="1200" dirty="0" smtClean="0">
                <a:latin typeface="+mn-ea"/>
              </a:rPr>
              <a:t>.		- </a:t>
            </a:r>
            <a:r>
              <a:rPr lang="ko-KR" altLang="en-US" sz="1200" dirty="0" smtClean="0">
                <a:latin typeface="+mn-ea"/>
              </a:rPr>
              <a:t>길이 제한은 없다</a:t>
            </a:r>
            <a:r>
              <a:rPr lang="en-US" altLang="ko-KR" sz="1200" dirty="0" smtClean="0">
                <a:latin typeface="+mn-ea"/>
              </a:rPr>
              <a:t>.</a:t>
            </a: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219120" y="5385048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>
                <a:latin typeface="+mn-ea"/>
                <a:ea typeface="+mn-ea"/>
              </a:rPr>
              <a:t>4. </a:t>
            </a:r>
            <a:r>
              <a:rPr lang="ko-KR" altLang="en-US" sz="2000" dirty="0" smtClean="0">
                <a:latin typeface="+mn-ea"/>
                <a:ea typeface="+mn-ea"/>
              </a:rPr>
              <a:t>변수 </a:t>
            </a:r>
            <a:r>
              <a:rPr lang="en-US" altLang="ko-KR" sz="1600" dirty="0" smtClean="0">
                <a:latin typeface="+mn-ea"/>
                <a:ea typeface="+mn-ea"/>
              </a:rPr>
              <a:t>- </a:t>
            </a:r>
            <a:r>
              <a:rPr lang="ko-KR" altLang="en-US" sz="1600" dirty="0" err="1" smtClean="0">
                <a:latin typeface="+mn-ea"/>
                <a:ea typeface="+mn-ea"/>
              </a:rPr>
              <a:t>데이터</a:t>
            </a:r>
            <a:r>
              <a:rPr lang="ko-KR" altLang="en-US" sz="1600" dirty="0" err="1">
                <a:latin typeface="+mn-ea"/>
                <a:ea typeface="+mn-ea"/>
              </a:rPr>
              <a:t>형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08012" y="5889104"/>
            <a:ext cx="6633356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7744" lvl="2" indent="0">
              <a:spcAft>
                <a:spcPts val="800"/>
              </a:spcAft>
              <a:buNone/>
            </a:pPr>
            <a:r>
              <a:rPr lang="ko-KR" altLang="en-US" sz="1400" dirty="0" smtClean="0">
                <a:latin typeface="+mn-ea"/>
              </a:rPr>
              <a:t>기본형</a:t>
            </a:r>
            <a:endParaRPr lang="en-US" altLang="ko-KR" sz="1200" dirty="0" smtClean="0">
              <a:latin typeface="+mn-ea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04525"/>
              </p:ext>
            </p:extLst>
          </p:nvPr>
        </p:nvGraphicFramePr>
        <p:xfrm>
          <a:off x="114634" y="6500048"/>
          <a:ext cx="6628733" cy="32054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22380"/>
                <a:gridCol w="907481"/>
                <a:gridCol w="950461"/>
                <a:gridCol w="364841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종류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데이터형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바이트 수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범위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논리형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boolean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true</a:t>
                      </a:r>
                      <a:r>
                        <a:rPr lang="en-US" altLang="ko-KR" sz="1400" baseline="0" dirty="0" smtClean="0"/>
                        <a:t> or false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단일 문자형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char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‘lu0000’ ~ ‘</a:t>
                      </a:r>
                      <a:r>
                        <a:rPr lang="en-US" altLang="ko-KR" sz="1400" dirty="0" err="1" smtClean="0"/>
                        <a:t>luffff</a:t>
                      </a:r>
                      <a:r>
                        <a:rPr lang="en-US" altLang="ko-KR" sz="1400" dirty="0" smtClean="0"/>
                        <a:t>’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정수형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byte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-2</a:t>
                      </a:r>
                      <a:r>
                        <a:rPr lang="en-US" altLang="ko-KR" sz="1400" baseline="30000" dirty="0" smtClean="0"/>
                        <a:t>7</a:t>
                      </a:r>
                      <a:r>
                        <a:rPr lang="en-US" altLang="ko-KR" sz="1400" baseline="0" dirty="0" smtClean="0"/>
                        <a:t> ~ 2</a:t>
                      </a:r>
                      <a:r>
                        <a:rPr lang="en-US" altLang="ko-KR" sz="1400" baseline="30000" dirty="0" smtClean="0"/>
                        <a:t>7</a:t>
                      </a:r>
                      <a:r>
                        <a:rPr lang="en-US" altLang="ko-KR" sz="1400" baseline="0" dirty="0" smtClean="0"/>
                        <a:t>-1  </a:t>
                      </a:r>
                      <a:endParaRPr lang="ko-KR" altLang="en-US" sz="1400" dirty="0" smtClean="0"/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short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-2</a:t>
                      </a:r>
                      <a:r>
                        <a:rPr lang="en-US" altLang="ko-KR" sz="1400" baseline="30000" dirty="0" smtClean="0"/>
                        <a:t>15</a:t>
                      </a:r>
                      <a:r>
                        <a:rPr lang="en-US" altLang="ko-KR" sz="1400" baseline="0" dirty="0" smtClean="0"/>
                        <a:t> ~ 2</a:t>
                      </a:r>
                      <a:r>
                        <a:rPr lang="en-US" altLang="ko-KR" sz="1400" baseline="30000" dirty="0" smtClean="0"/>
                        <a:t>15</a:t>
                      </a:r>
                      <a:r>
                        <a:rPr lang="en-US" altLang="ko-KR" sz="1400" baseline="0" dirty="0" smtClean="0"/>
                        <a:t>-1 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int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-2</a:t>
                      </a:r>
                      <a:r>
                        <a:rPr lang="en-US" altLang="ko-KR" sz="1400" baseline="30000" dirty="0" smtClean="0"/>
                        <a:t>31</a:t>
                      </a:r>
                      <a:r>
                        <a:rPr lang="en-US" altLang="ko-KR" sz="1400" baseline="0" dirty="0" smtClean="0"/>
                        <a:t> ~ 2</a:t>
                      </a:r>
                      <a:r>
                        <a:rPr lang="en-US" altLang="ko-KR" sz="1400" baseline="30000" dirty="0" smtClean="0"/>
                        <a:t>31</a:t>
                      </a:r>
                      <a:r>
                        <a:rPr lang="en-US" altLang="ko-KR" sz="1400" baseline="0" dirty="0" smtClean="0"/>
                        <a:t>-1</a:t>
                      </a:r>
                      <a:endParaRPr lang="ko-KR" altLang="en-US" sz="1400" dirty="0" smtClean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long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2</a:t>
                      </a:r>
                      <a:r>
                        <a:rPr lang="en-US" altLang="ko-KR" sz="1400" baseline="30000" dirty="0" smtClean="0"/>
                        <a:t>63</a:t>
                      </a:r>
                      <a:r>
                        <a:rPr lang="en-US" altLang="ko-KR" sz="1400" baseline="0" dirty="0" smtClean="0"/>
                        <a:t> ~ 2</a:t>
                      </a:r>
                      <a:r>
                        <a:rPr lang="en-US" altLang="ko-KR" sz="1400" baseline="30000" dirty="0" smtClean="0"/>
                        <a:t>63</a:t>
                      </a:r>
                      <a:r>
                        <a:rPr lang="en-US" altLang="ko-KR" sz="1400" baseline="0" dirty="0" smtClean="0"/>
                        <a:t>-1</a:t>
                      </a:r>
                      <a:endParaRPr lang="ko-KR" altLang="en-US" sz="1400" dirty="0" smtClean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854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실수형</a:t>
                      </a:r>
                      <a:endParaRPr lang="ko-KR" alt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float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1.4e-45 ~3.4028235e38</a:t>
                      </a:r>
                      <a:endParaRPr lang="en-US" altLang="ko-KR" sz="1400" baseline="30000" dirty="0" smtClean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double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 smtClean="0"/>
                        <a:t>4.9e -324 ~ 1.7976931348623157e308</a:t>
                      </a:r>
                      <a:endParaRPr lang="en-US" altLang="ko-KR" sz="1400" baseline="30000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14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500"/>
              </a:lnSpc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4644" y="-15552"/>
            <a:ext cx="6408712" cy="464240"/>
          </a:xfrm>
        </p:spPr>
        <p:txBody>
          <a:bodyPr/>
          <a:lstStyle/>
          <a:p>
            <a:r>
              <a:rPr lang="en-US" altLang="ko-KR" sz="1800" dirty="0" smtClean="0">
                <a:latin typeface="+mn-ea"/>
                <a:ea typeface="+mn-ea"/>
              </a:rPr>
              <a:t>5. </a:t>
            </a:r>
            <a:r>
              <a:rPr lang="ko-KR" altLang="en-US" sz="1800" dirty="0" smtClean="0">
                <a:latin typeface="+mn-ea"/>
                <a:ea typeface="+mn-ea"/>
              </a:rPr>
              <a:t>배열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344488"/>
            <a:ext cx="6858000" cy="5832648"/>
          </a:xfrm>
        </p:spPr>
        <p:txBody>
          <a:bodyPr>
            <a:noAutofit/>
          </a:bodyPr>
          <a:lstStyle/>
          <a:p>
            <a:pPr marL="237744" lvl="2" indent="0">
              <a:lnSpc>
                <a:spcPts val="2000"/>
              </a:lnSpc>
              <a:buNone/>
            </a:pPr>
            <a:r>
              <a:rPr lang="en-US" altLang="ko-KR" sz="1200" dirty="0" smtClean="0">
                <a:latin typeface="+mn-ea"/>
              </a:rPr>
              <a:t>※ </a:t>
            </a:r>
            <a:r>
              <a:rPr lang="ko-KR" altLang="en-US" sz="1200" dirty="0" smtClean="0">
                <a:latin typeface="+mn-ea"/>
              </a:rPr>
              <a:t>배열이란</a:t>
            </a:r>
            <a:r>
              <a:rPr lang="en-US" altLang="ko-KR" sz="1200" dirty="0" smtClean="0">
                <a:latin typeface="+mn-ea"/>
              </a:rPr>
              <a:t>? ※</a:t>
            </a: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200" b="0" dirty="0" smtClean="0">
                <a:latin typeface="+mn-ea"/>
              </a:rPr>
              <a:t>- </a:t>
            </a:r>
            <a:r>
              <a:rPr lang="ko-KR" altLang="en-US" sz="1050" b="0" dirty="0" smtClean="0">
                <a:latin typeface="+mn-ea"/>
              </a:rPr>
              <a:t>같은 종류의 데이터를 여러 개 저장하기 위한 기억 </a:t>
            </a:r>
            <a:r>
              <a:rPr lang="ko-KR" altLang="en-US" sz="1050" dirty="0" smtClean="0">
                <a:latin typeface="+mn-ea"/>
              </a:rPr>
              <a:t>장소</a:t>
            </a:r>
            <a:endParaRPr lang="en-US" altLang="ko-KR" sz="105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b="0" dirty="0" smtClean="0">
                <a:latin typeface="+mn-ea"/>
              </a:rPr>
              <a:t>- </a:t>
            </a:r>
            <a:r>
              <a:rPr lang="ko-KR" altLang="en-US" sz="1050" b="0" dirty="0" smtClean="0">
                <a:latin typeface="+mn-ea"/>
              </a:rPr>
              <a:t>자바는 배열을 객체로 처리</a:t>
            </a:r>
            <a:r>
              <a:rPr lang="en-US" altLang="ko-KR" sz="1050" dirty="0" smtClean="0">
                <a:latin typeface="+mn-ea"/>
              </a:rPr>
              <a:t>. (</a:t>
            </a:r>
            <a:r>
              <a:rPr lang="ko-KR" altLang="en-US" sz="1050" dirty="0">
                <a:latin typeface="+mn-ea"/>
              </a:rPr>
              <a:t> </a:t>
            </a:r>
            <a:r>
              <a:rPr lang="ko-KR" altLang="en-US" sz="1050" dirty="0" err="1" smtClean="0">
                <a:latin typeface="+mn-ea"/>
              </a:rPr>
              <a:t>참조형</a:t>
            </a:r>
            <a:r>
              <a:rPr lang="ko-KR" altLang="en-US" sz="1050" dirty="0" smtClean="0">
                <a:latin typeface="+mn-ea"/>
              </a:rPr>
              <a:t> 변수</a:t>
            </a:r>
            <a:r>
              <a:rPr lang="en-US" altLang="ko-KR" sz="1050" dirty="0" smtClean="0">
                <a:latin typeface="+mn-ea"/>
              </a:rPr>
              <a:t>)</a:t>
            </a: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b="0" dirty="0" smtClean="0">
                <a:latin typeface="+mn-ea"/>
              </a:rPr>
              <a:t>- </a:t>
            </a:r>
            <a:r>
              <a:rPr lang="ko-KR" altLang="en-US" sz="1050" dirty="0" smtClean="0">
                <a:latin typeface="+mn-ea"/>
              </a:rPr>
              <a:t>메모리 절약</a:t>
            </a:r>
            <a:r>
              <a:rPr lang="en-US" altLang="ko-KR" sz="1050" dirty="0" smtClean="0">
                <a:latin typeface="+mn-ea"/>
              </a:rPr>
              <a:t>, </a:t>
            </a:r>
            <a:r>
              <a:rPr lang="ko-KR" altLang="en-US" sz="1050" dirty="0" smtClean="0">
                <a:latin typeface="+mn-ea"/>
              </a:rPr>
              <a:t>쉽고 간결한 프로그램 작성 </a:t>
            </a:r>
            <a:r>
              <a:rPr lang="ko-KR" altLang="en-US" sz="1050" dirty="0" smtClean="0">
                <a:latin typeface="+mn-ea"/>
              </a:rPr>
              <a:t>가능</a:t>
            </a:r>
            <a:endParaRPr lang="en-US" altLang="ko-KR" sz="500" dirty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200" dirty="0" smtClean="0">
                <a:latin typeface="+mn-ea"/>
              </a:rPr>
              <a:t>※ </a:t>
            </a:r>
            <a:r>
              <a:rPr lang="ko-KR" altLang="en-US" sz="1200" dirty="0" smtClean="0">
                <a:latin typeface="+mn-ea"/>
              </a:rPr>
              <a:t>배열 사용 </a:t>
            </a:r>
            <a:r>
              <a:rPr lang="en-US" altLang="ko-KR" sz="1200" dirty="0" smtClean="0">
                <a:latin typeface="+mn-ea"/>
              </a:rPr>
              <a:t>※</a:t>
            </a: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dirty="0" smtClean="0">
                <a:latin typeface="+mn-ea"/>
              </a:rPr>
              <a:t>1</a:t>
            </a:r>
            <a:r>
              <a:rPr lang="ko-KR" altLang="en-US" sz="1050" dirty="0" smtClean="0">
                <a:latin typeface="+mn-ea"/>
              </a:rPr>
              <a:t>단계 </a:t>
            </a:r>
            <a:r>
              <a:rPr lang="en-US" altLang="ko-KR" sz="1050" dirty="0" smtClean="0">
                <a:latin typeface="+mn-ea"/>
              </a:rPr>
              <a:t>: </a:t>
            </a:r>
            <a:r>
              <a:rPr lang="ko-KR" altLang="en-US" sz="1050" dirty="0" smtClean="0">
                <a:latin typeface="+mn-ea"/>
              </a:rPr>
              <a:t>배열 선언</a:t>
            </a:r>
            <a:endParaRPr lang="en-US" altLang="ko-KR" sz="105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100" dirty="0" smtClean="0">
                <a:latin typeface="+mn-ea"/>
              </a:rPr>
              <a:t>         </a:t>
            </a:r>
            <a:r>
              <a:rPr lang="ko-KR" altLang="en-US" sz="1050" dirty="0" smtClean="0">
                <a:latin typeface="+mn-ea"/>
              </a:rPr>
              <a:t>기억 장소의 주소를 가리키는 변수를 선언</a:t>
            </a:r>
            <a:r>
              <a:rPr lang="en-US" altLang="ko-KR" sz="1050" dirty="0" smtClean="0">
                <a:latin typeface="+mn-ea"/>
              </a:rPr>
              <a:t>. ( </a:t>
            </a:r>
            <a:r>
              <a:rPr lang="ko-KR" altLang="en-US" sz="1050" dirty="0" smtClean="0">
                <a:latin typeface="+mn-ea"/>
              </a:rPr>
              <a:t>배열의 크기 지정</a:t>
            </a:r>
            <a:r>
              <a:rPr lang="en-US" altLang="ko-KR" sz="1050" dirty="0" smtClean="0">
                <a:latin typeface="+mn-ea"/>
              </a:rPr>
              <a:t>X )</a:t>
            </a: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dirty="0" smtClean="0">
                <a:latin typeface="+mn-ea"/>
              </a:rPr>
              <a:t>           ex ) </a:t>
            </a:r>
            <a:r>
              <a:rPr lang="en-US" altLang="ko-KR" sz="1050" dirty="0" err="1" smtClean="0">
                <a:latin typeface="+mn-ea"/>
              </a:rPr>
              <a:t>int</a:t>
            </a:r>
            <a:r>
              <a:rPr lang="en-US" altLang="ko-KR" sz="1050" dirty="0" smtClean="0">
                <a:latin typeface="+mn-ea"/>
              </a:rPr>
              <a:t> a[ ]; , </a:t>
            </a:r>
            <a:r>
              <a:rPr lang="en-US" altLang="ko-KR" sz="1050" dirty="0" err="1" smtClean="0">
                <a:latin typeface="+mn-ea"/>
              </a:rPr>
              <a:t>int</a:t>
            </a:r>
            <a:r>
              <a:rPr lang="en-US" altLang="ko-KR" sz="1050" dirty="0" smtClean="0">
                <a:latin typeface="+mn-ea"/>
              </a:rPr>
              <a:t> [ ] a</a:t>
            </a:r>
            <a:r>
              <a:rPr lang="en-US" altLang="ko-KR" sz="1050" dirty="0" smtClean="0">
                <a:latin typeface="+mn-ea"/>
              </a:rPr>
              <a:t>;</a:t>
            </a:r>
            <a:endParaRPr lang="en-US" altLang="ko-KR" sz="20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b="0" dirty="0" smtClean="0">
                <a:latin typeface="+mn-ea"/>
              </a:rPr>
              <a:t>2</a:t>
            </a:r>
            <a:r>
              <a:rPr lang="ko-KR" altLang="en-US" sz="1050" b="0" dirty="0" smtClean="0">
                <a:latin typeface="+mn-ea"/>
              </a:rPr>
              <a:t>단계</a:t>
            </a:r>
            <a:r>
              <a:rPr lang="en-US" altLang="ko-KR" sz="1050" dirty="0">
                <a:latin typeface="+mn-ea"/>
              </a:rPr>
              <a:t> </a:t>
            </a:r>
            <a:r>
              <a:rPr lang="en-US" altLang="ko-KR" sz="1050" dirty="0" smtClean="0">
                <a:latin typeface="+mn-ea"/>
              </a:rPr>
              <a:t>: </a:t>
            </a:r>
            <a:r>
              <a:rPr lang="ko-KR" altLang="en-US" sz="1050" dirty="0" smtClean="0">
                <a:latin typeface="+mn-ea"/>
              </a:rPr>
              <a:t>배열 생성</a:t>
            </a:r>
            <a:endParaRPr lang="en-US" altLang="ko-KR" sz="105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100" dirty="0" smtClean="0">
                <a:latin typeface="+mn-ea"/>
              </a:rPr>
              <a:t>         </a:t>
            </a:r>
            <a:r>
              <a:rPr lang="ko-KR" altLang="en-US" sz="1050" dirty="0" smtClean="0">
                <a:latin typeface="+mn-ea"/>
              </a:rPr>
              <a:t>기억 공간을 할당하는 </a:t>
            </a:r>
            <a:r>
              <a:rPr lang="en-US" altLang="ko-KR" sz="1050" dirty="0" smtClean="0">
                <a:latin typeface="+mn-ea"/>
              </a:rPr>
              <a:t>new </a:t>
            </a:r>
            <a:r>
              <a:rPr lang="ko-KR" altLang="en-US" sz="1050" dirty="0" smtClean="0">
                <a:latin typeface="+mn-ea"/>
              </a:rPr>
              <a:t>연산자로 배열 객체가 저장될 기억 공간을 확보하고</a:t>
            </a:r>
            <a:endParaRPr lang="en-US" altLang="ko-KR" sz="105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dirty="0" smtClean="0">
                <a:latin typeface="+mn-ea"/>
              </a:rPr>
              <a:t>          </a:t>
            </a:r>
            <a:r>
              <a:rPr lang="ko-KR" altLang="en-US" sz="1050" dirty="0" smtClean="0">
                <a:latin typeface="+mn-ea"/>
              </a:rPr>
              <a:t>이 기억 공간의 주소를 </a:t>
            </a:r>
            <a:r>
              <a:rPr lang="en-US" altLang="ko-KR" sz="1050" dirty="0" smtClean="0">
                <a:latin typeface="+mn-ea"/>
              </a:rPr>
              <a:t>1</a:t>
            </a:r>
            <a:r>
              <a:rPr lang="ko-KR" altLang="en-US" sz="1050" dirty="0" smtClean="0">
                <a:latin typeface="+mn-ea"/>
              </a:rPr>
              <a:t>단계의 배열 변수에 저장</a:t>
            </a:r>
            <a:r>
              <a:rPr lang="en-US" altLang="ko-KR" sz="1050" dirty="0" smtClean="0">
                <a:latin typeface="+mn-ea"/>
              </a:rPr>
              <a:t>. ( </a:t>
            </a:r>
            <a:r>
              <a:rPr lang="ko-KR" altLang="en-US" sz="1050" dirty="0" smtClean="0">
                <a:latin typeface="+mn-ea"/>
              </a:rPr>
              <a:t>배열의 크기를 지정</a:t>
            </a:r>
            <a:r>
              <a:rPr lang="en-US" altLang="ko-KR" sz="1050" dirty="0" smtClean="0">
                <a:latin typeface="+mn-ea"/>
              </a:rPr>
              <a:t>)</a:t>
            </a:r>
            <a:r>
              <a:rPr lang="ko-KR" altLang="en-US" sz="1050" dirty="0" smtClean="0">
                <a:latin typeface="+mn-ea"/>
              </a:rPr>
              <a:t> </a:t>
            </a:r>
            <a:endParaRPr lang="en-US" altLang="ko-KR" sz="105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dirty="0" smtClean="0">
                <a:latin typeface="+mn-ea"/>
              </a:rPr>
              <a:t>          ** </a:t>
            </a:r>
            <a:r>
              <a:rPr lang="ko-KR" altLang="en-US" sz="1050" dirty="0" smtClean="0">
                <a:latin typeface="+mn-ea"/>
              </a:rPr>
              <a:t>배열객체 각 원소의 기억 공간을 접근하는 인덱스는 </a:t>
            </a:r>
            <a:r>
              <a:rPr lang="en-US" altLang="ko-KR" sz="1050" dirty="0" smtClean="0">
                <a:latin typeface="+mn-ea"/>
              </a:rPr>
              <a:t>0</a:t>
            </a:r>
            <a:r>
              <a:rPr lang="ko-KR" altLang="en-US" sz="1050" dirty="0" smtClean="0">
                <a:latin typeface="+mn-ea"/>
              </a:rPr>
              <a:t>부터 시작한다</a:t>
            </a:r>
            <a:r>
              <a:rPr lang="en-US" altLang="ko-KR" sz="1050" dirty="0" smtClean="0">
                <a:latin typeface="+mn-ea"/>
              </a:rPr>
              <a:t>.</a:t>
            </a: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050" dirty="0">
                <a:latin typeface="+mn-ea"/>
              </a:rPr>
              <a:t> </a:t>
            </a:r>
            <a:r>
              <a:rPr lang="en-US" altLang="ko-KR" sz="1050" dirty="0" smtClean="0">
                <a:latin typeface="+mn-ea"/>
              </a:rPr>
              <a:t>        ex ) a = new </a:t>
            </a:r>
            <a:r>
              <a:rPr lang="en-US" altLang="ko-KR" sz="1050" dirty="0" err="1" smtClean="0">
                <a:latin typeface="+mn-ea"/>
              </a:rPr>
              <a:t>int</a:t>
            </a:r>
            <a:r>
              <a:rPr lang="en-US" altLang="ko-KR" sz="1050" dirty="0" smtClean="0">
                <a:latin typeface="+mn-ea"/>
              </a:rPr>
              <a:t>[ 3 </a:t>
            </a:r>
            <a:r>
              <a:rPr lang="en-US" altLang="ko-KR" sz="1050" dirty="0" smtClean="0">
                <a:latin typeface="+mn-ea"/>
              </a:rPr>
              <a:t>];</a:t>
            </a:r>
            <a:endParaRPr lang="en-US" altLang="ko-KR" sz="10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100" b="0" dirty="0" smtClean="0">
                <a:latin typeface="+mn-ea"/>
              </a:rPr>
              <a:t>3</a:t>
            </a:r>
            <a:r>
              <a:rPr lang="ko-KR" altLang="en-US" sz="1100" b="0" dirty="0" smtClean="0">
                <a:latin typeface="+mn-ea"/>
              </a:rPr>
              <a:t>단계</a:t>
            </a:r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: </a:t>
            </a:r>
            <a:r>
              <a:rPr lang="ko-KR" altLang="en-US" sz="1100" dirty="0" smtClean="0">
                <a:latin typeface="+mn-ea"/>
              </a:rPr>
              <a:t>배열 초기화</a:t>
            </a:r>
            <a:endParaRPr lang="en-US" altLang="ko-KR" sz="1100" dirty="0" smtClean="0">
              <a:latin typeface="+mn-ea"/>
            </a:endParaRP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100" dirty="0" smtClean="0">
                <a:latin typeface="+mn-ea"/>
              </a:rPr>
              <a:t>         </a:t>
            </a:r>
            <a:r>
              <a:rPr lang="ko-KR" altLang="en-US" sz="1050" dirty="0" smtClean="0">
                <a:latin typeface="+mn-ea"/>
              </a:rPr>
              <a:t>배열객체 각 원소의 기억 공간에 데이터를 초기화 한다</a:t>
            </a:r>
            <a:r>
              <a:rPr lang="en-US" altLang="ko-KR" sz="1050" dirty="0" smtClean="0">
                <a:latin typeface="+mn-ea"/>
              </a:rPr>
              <a:t>.</a:t>
            </a:r>
          </a:p>
          <a:p>
            <a:pPr marL="237744" lvl="2" indent="0">
              <a:lnSpc>
                <a:spcPts val="2000"/>
              </a:lnSpc>
              <a:buNone/>
            </a:pPr>
            <a:r>
              <a:rPr lang="en-US" altLang="ko-KR" sz="1100" b="0" dirty="0" smtClean="0">
                <a:latin typeface="+mn-ea"/>
              </a:rPr>
              <a:t>         </a:t>
            </a:r>
            <a:r>
              <a:rPr lang="en-US" altLang="ko-KR" sz="1050" dirty="0" smtClean="0">
                <a:latin typeface="+mn-ea"/>
              </a:rPr>
              <a:t>ex ) a[0] = 10; a[1] = 20; a[2] = 30</a:t>
            </a:r>
            <a:r>
              <a:rPr lang="en-US" altLang="ko-KR" sz="1050" dirty="0" smtClean="0">
                <a:latin typeface="+mn-ea"/>
              </a:rPr>
              <a:t>;</a:t>
            </a:r>
          </a:p>
          <a:p>
            <a:pPr marL="237744" lvl="2" indent="0">
              <a:lnSpc>
                <a:spcPts val="2100"/>
              </a:lnSpc>
              <a:buNone/>
            </a:pPr>
            <a:r>
              <a:rPr lang="en-US" altLang="ko-KR" sz="1200" b="0" dirty="0" smtClean="0">
                <a:latin typeface="+mn-ea"/>
              </a:rPr>
              <a:t>1</a:t>
            </a:r>
            <a:r>
              <a:rPr lang="en-US" altLang="ko-KR" sz="1200" b="0" dirty="0" smtClean="0">
                <a:latin typeface="+mn-ea"/>
              </a:rPr>
              <a:t>, 2 </a:t>
            </a:r>
            <a:r>
              <a:rPr lang="ko-KR" altLang="en-US" sz="1200" b="0" dirty="0" smtClean="0">
                <a:latin typeface="+mn-ea"/>
              </a:rPr>
              <a:t>단계 한꺼번에 표현</a:t>
            </a:r>
            <a:endParaRPr lang="en-US" altLang="ko-KR" sz="1200" b="0" dirty="0" smtClean="0">
              <a:latin typeface="+mn-ea"/>
            </a:endParaRPr>
          </a:p>
          <a:p>
            <a:pPr marL="237744" lvl="2" indent="0">
              <a:lnSpc>
                <a:spcPts val="2100"/>
              </a:lnSpc>
              <a:buNone/>
            </a:pPr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ex ) </a:t>
            </a:r>
            <a:r>
              <a:rPr lang="en-US" altLang="ko-KR" sz="1100" dirty="0" err="1" smtClean="0">
                <a:latin typeface="+mn-ea"/>
              </a:rPr>
              <a:t>int</a:t>
            </a:r>
            <a:r>
              <a:rPr lang="en-US" altLang="ko-KR" sz="1100" dirty="0" smtClean="0">
                <a:latin typeface="+mn-ea"/>
              </a:rPr>
              <a:t> a[ ] = new </a:t>
            </a:r>
            <a:r>
              <a:rPr lang="en-US" altLang="ko-KR" sz="1100" dirty="0" err="1" smtClean="0">
                <a:latin typeface="+mn-ea"/>
              </a:rPr>
              <a:t>int</a:t>
            </a:r>
            <a:r>
              <a:rPr lang="en-US" altLang="ko-KR" sz="1100" dirty="0" smtClean="0">
                <a:latin typeface="+mn-ea"/>
              </a:rPr>
              <a:t>[3]; </a:t>
            </a:r>
            <a:r>
              <a:rPr lang="ko-KR" altLang="en-US" sz="1100" dirty="0" smtClean="0">
                <a:latin typeface="+mn-ea"/>
              </a:rPr>
              <a:t>또는 </a:t>
            </a:r>
            <a:r>
              <a:rPr lang="en-US" altLang="ko-KR" sz="1100" dirty="0" err="1" smtClean="0">
                <a:latin typeface="+mn-ea"/>
              </a:rPr>
              <a:t>int</a:t>
            </a:r>
            <a:r>
              <a:rPr lang="en-US" altLang="ko-KR" sz="1100" dirty="0" smtClean="0">
                <a:latin typeface="+mn-ea"/>
              </a:rPr>
              <a:t>[ ] a = new </a:t>
            </a:r>
            <a:r>
              <a:rPr lang="en-US" altLang="ko-KR" sz="1100" dirty="0" err="1" smtClean="0">
                <a:latin typeface="+mn-ea"/>
              </a:rPr>
              <a:t>int</a:t>
            </a:r>
            <a:r>
              <a:rPr lang="en-US" altLang="ko-KR" sz="1100" dirty="0" smtClean="0">
                <a:latin typeface="+mn-ea"/>
              </a:rPr>
              <a:t>[3</a:t>
            </a:r>
            <a:r>
              <a:rPr lang="en-US" altLang="ko-KR" sz="1100" dirty="0" smtClean="0">
                <a:latin typeface="+mn-ea"/>
              </a:rPr>
              <a:t>];</a:t>
            </a:r>
            <a:endParaRPr lang="en-US" altLang="ko-KR" sz="500" dirty="0">
              <a:latin typeface="+mn-ea"/>
            </a:endParaRPr>
          </a:p>
          <a:p>
            <a:pPr marL="237744" lvl="2" indent="0">
              <a:lnSpc>
                <a:spcPts val="2100"/>
              </a:lnSpc>
              <a:buNone/>
            </a:pPr>
            <a:r>
              <a:rPr lang="en-US" altLang="ko-KR" sz="1200" dirty="0" smtClean="0">
                <a:latin typeface="+mn-ea"/>
              </a:rPr>
              <a:t>1, 2, 3 </a:t>
            </a:r>
            <a:r>
              <a:rPr lang="ko-KR" altLang="en-US" sz="1200" dirty="0" smtClean="0">
                <a:latin typeface="+mn-ea"/>
              </a:rPr>
              <a:t>단계 한꺼번에 표현</a:t>
            </a:r>
            <a:endParaRPr lang="en-US" altLang="ko-KR" sz="1200" dirty="0" smtClean="0">
              <a:latin typeface="+mn-ea"/>
            </a:endParaRPr>
          </a:p>
          <a:p>
            <a:pPr marL="237744" lvl="2" indent="0">
              <a:lnSpc>
                <a:spcPts val="2100"/>
              </a:lnSpc>
              <a:buNone/>
            </a:pPr>
            <a:r>
              <a:rPr lang="en-US" altLang="ko-KR" sz="1200" b="0" dirty="0">
                <a:latin typeface="+mn-ea"/>
              </a:rPr>
              <a:t> </a:t>
            </a:r>
            <a:r>
              <a:rPr lang="en-US" altLang="ko-KR" sz="1100" b="0" dirty="0" smtClean="0">
                <a:latin typeface="+mn-ea"/>
              </a:rPr>
              <a:t>ex) </a:t>
            </a:r>
            <a:r>
              <a:rPr lang="en-US" altLang="ko-KR" sz="1100" b="0" dirty="0" err="1" smtClean="0">
                <a:latin typeface="+mn-ea"/>
              </a:rPr>
              <a:t>int</a:t>
            </a:r>
            <a:r>
              <a:rPr lang="en-US" altLang="ko-KR" sz="1100" b="0" dirty="0" smtClean="0">
                <a:latin typeface="+mn-ea"/>
              </a:rPr>
              <a:t> [ ]a ={1, 2. 3}; </a:t>
            </a:r>
            <a:r>
              <a:rPr lang="ko-KR" altLang="en-US" sz="1100" b="0" dirty="0" smtClean="0">
                <a:latin typeface="+mn-ea"/>
              </a:rPr>
              <a:t>또는 </a:t>
            </a:r>
            <a:r>
              <a:rPr lang="en-US" altLang="ko-KR" sz="1100" b="0" dirty="0" err="1" smtClean="0">
                <a:latin typeface="+mn-ea"/>
              </a:rPr>
              <a:t>int</a:t>
            </a:r>
            <a:r>
              <a:rPr lang="en-US" altLang="ko-KR" sz="1100" b="0" dirty="0" smtClean="0">
                <a:latin typeface="+mn-ea"/>
              </a:rPr>
              <a:t> [ ] a = new </a:t>
            </a:r>
            <a:r>
              <a:rPr lang="en-US" altLang="ko-KR" sz="1100" b="0" dirty="0" err="1" smtClean="0">
                <a:latin typeface="+mn-ea"/>
              </a:rPr>
              <a:t>int</a:t>
            </a:r>
            <a:r>
              <a:rPr lang="en-US" altLang="ko-KR" sz="1100" b="0" dirty="0" smtClean="0">
                <a:latin typeface="+mn-ea"/>
              </a:rPr>
              <a:t> [ ]{1, 2, 3};</a:t>
            </a:r>
            <a:endParaRPr lang="en-US" altLang="ko-KR" sz="1200" b="0" dirty="0" smtClean="0">
              <a:latin typeface="+mn-ea"/>
            </a:endParaRP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24644" y="632115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500"/>
              </a:lnSpc>
            </a:pPr>
            <a:r>
              <a:rPr lang="en-US" altLang="ko-KR" sz="1800" dirty="0" smtClean="0">
                <a:latin typeface="+mn-ea"/>
                <a:ea typeface="+mn-ea"/>
              </a:rPr>
              <a:t>6. </a:t>
            </a:r>
            <a:r>
              <a:rPr lang="ko-KR" altLang="en-US" sz="1800" dirty="0" smtClean="0">
                <a:latin typeface="+mn-ea"/>
                <a:ea typeface="+mn-ea"/>
              </a:rPr>
              <a:t>이차원 </a:t>
            </a:r>
            <a:r>
              <a:rPr lang="ko-KR" altLang="en-US" sz="1800" dirty="0" smtClean="0">
                <a:latin typeface="+mn-ea"/>
                <a:ea typeface="+mn-ea"/>
              </a:rPr>
              <a:t>배열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23" name="내용 개체 틀 2"/>
          <p:cNvSpPr txBox="1">
            <a:spLocks/>
          </p:cNvSpPr>
          <p:nvPr/>
        </p:nvSpPr>
        <p:spPr>
          <a:xfrm>
            <a:off x="224644" y="6609184"/>
            <a:ext cx="6408712" cy="3064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1</a:t>
            </a:r>
            <a:r>
              <a:rPr lang="ko-KR" altLang="en-US" sz="1200" dirty="0" smtClean="0">
                <a:latin typeface="+mn-ea"/>
              </a:rPr>
              <a:t>단계</a:t>
            </a: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–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a[ ][ ];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[ ] a [ ];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[ ][ ]a</a:t>
            </a:r>
            <a:r>
              <a:rPr lang="en-US" altLang="ko-KR" sz="1200" dirty="0" smtClean="0">
                <a:latin typeface="+mn-ea"/>
              </a:rPr>
              <a:t>;</a:t>
            </a:r>
            <a:endParaRPr lang="en-US" altLang="ko-KR" sz="500" dirty="0" smtClean="0">
              <a:latin typeface="+mn-ea"/>
            </a:endParaRP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2</a:t>
            </a:r>
            <a:r>
              <a:rPr lang="ko-KR" altLang="en-US" sz="1200" dirty="0" smtClean="0">
                <a:latin typeface="+mn-ea"/>
              </a:rPr>
              <a:t>단계 </a:t>
            </a:r>
            <a:r>
              <a:rPr lang="en-US" altLang="ko-KR" sz="1200" dirty="0" smtClean="0">
                <a:latin typeface="+mn-ea"/>
              </a:rPr>
              <a:t>– a = new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[2][3</a:t>
            </a:r>
            <a:r>
              <a:rPr lang="en-US" altLang="ko-KR" sz="1200" dirty="0" smtClean="0">
                <a:latin typeface="+mn-ea"/>
              </a:rPr>
              <a:t>];</a:t>
            </a:r>
            <a:endParaRPr lang="en-US" altLang="ko-KR" sz="500" dirty="0" smtClean="0">
              <a:latin typeface="+mn-ea"/>
            </a:endParaRP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3</a:t>
            </a:r>
            <a:r>
              <a:rPr lang="ko-KR" altLang="en-US" sz="1200" dirty="0" smtClean="0">
                <a:latin typeface="+mn-ea"/>
              </a:rPr>
              <a:t>단계 </a:t>
            </a:r>
            <a:r>
              <a:rPr lang="en-US" altLang="ko-KR" sz="1200" dirty="0" smtClean="0">
                <a:latin typeface="+mn-ea"/>
              </a:rPr>
              <a:t>– a[0][0]=1; a[0][1]=2; a[0][2]=3; a[1][0]=10; a[1][1]=20; a[1][2]=30</a:t>
            </a:r>
            <a:r>
              <a:rPr lang="en-US" altLang="ko-KR" sz="1200" dirty="0" smtClean="0">
                <a:latin typeface="+mn-ea"/>
              </a:rPr>
              <a:t>;</a:t>
            </a:r>
            <a:endParaRPr lang="en-US" altLang="ko-KR" sz="500" dirty="0">
              <a:latin typeface="+mn-ea"/>
            </a:endParaRP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	1	2	3</a:t>
            </a: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>
                <a:latin typeface="+mn-ea"/>
              </a:rPr>
              <a:t>	</a:t>
            </a:r>
            <a:r>
              <a:rPr lang="en-US" altLang="ko-KR" sz="1200" dirty="0" smtClean="0">
                <a:latin typeface="+mn-ea"/>
              </a:rPr>
              <a:t>10	20	30 </a:t>
            </a: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1, 2 </a:t>
            </a:r>
            <a:r>
              <a:rPr lang="ko-KR" altLang="en-US" sz="1200" dirty="0" smtClean="0">
                <a:latin typeface="+mn-ea"/>
              </a:rPr>
              <a:t>단계</a:t>
            </a:r>
            <a:endParaRPr lang="en-US" altLang="ko-KR" sz="1200" dirty="0" smtClean="0">
              <a:latin typeface="+mn-ea"/>
            </a:endParaRP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ex )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[ ][ ] a = new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[2][3</a:t>
            </a:r>
            <a:r>
              <a:rPr lang="en-US" altLang="ko-KR" sz="1200" dirty="0" smtClean="0">
                <a:latin typeface="+mn-ea"/>
              </a:rPr>
              <a:t>];</a:t>
            </a:r>
            <a:endParaRPr lang="en-US" altLang="ko-KR" sz="1100" dirty="0" smtClean="0">
              <a:latin typeface="+mn-ea"/>
            </a:endParaRP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1, 2, 3 </a:t>
            </a:r>
            <a:r>
              <a:rPr lang="ko-KR" altLang="en-US" sz="1200" dirty="0" smtClean="0">
                <a:latin typeface="+mn-ea"/>
              </a:rPr>
              <a:t>단계</a:t>
            </a:r>
            <a:endParaRPr lang="en-US" altLang="ko-KR" sz="1200" dirty="0" smtClean="0">
              <a:latin typeface="+mn-ea"/>
            </a:endParaRPr>
          </a:p>
          <a:p>
            <a:pPr marL="237744" lvl="2" indent="0">
              <a:lnSpc>
                <a:spcPts val="2500"/>
              </a:lnSpc>
              <a:buFont typeface="Wingdings" pitchFamily="2" charset="2"/>
              <a:buNone/>
            </a:pPr>
            <a:r>
              <a:rPr lang="en-US" altLang="ko-KR" sz="1200" dirty="0" smtClean="0">
                <a:latin typeface="+mn-ea"/>
              </a:rPr>
              <a:t>ex )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[ ][ ] a= {{1, 2, 3},{10, 20, 30}}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80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24644" y="9627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 smtClean="0">
                <a:latin typeface="+mn-ea"/>
                <a:ea typeface="+mn-ea"/>
              </a:rPr>
              <a:t>7. </a:t>
            </a:r>
            <a:r>
              <a:rPr lang="ko-KR" altLang="en-US" sz="2000" dirty="0" smtClean="0">
                <a:latin typeface="+mn-ea"/>
                <a:ea typeface="+mn-ea"/>
              </a:rPr>
              <a:t>연산자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63" y="7257256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829510"/>
              </p:ext>
            </p:extLst>
          </p:nvPr>
        </p:nvGraphicFramePr>
        <p:xfrm>
          <a:off x="197768" y="624373"/>
          <a:ext cx="6462465" cy="227372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92493"/>
                <a:gridCol w="1292493"/>
                <a:gridCol w="1292493"/>
                <a:gridCol w="1292493"/>
                <a:gridCol w="1292493"/>
              </a:tblGrid>
              <a:tr h="239207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산술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392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392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+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덧셈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 + 10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a-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뺄셈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– 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*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*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곱셈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 * 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/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/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나눗셈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/ 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%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%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나머지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% 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64183"/>
              </p:ext>
            </p:extLst>
          </p:nvPr>
        </p:nvGraphicFramePr>
        <p:xfrm>
          <a:off x="204430" y="3132192"/>
          <a:ext cx="6462465" cy="2468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92493"/>
                <a:gridCol w="1292493"/>
                <a:gridCol w="1292493"/>
                <a:gridCol w="1292493"/>
                <a:gridCol w="1292493"/>
              </a:tblGrid>
              <a:tr h="19917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관계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1991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1808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50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&gt;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&gt;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크다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&gt; 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True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50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&gt;=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&gt;=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크거나 같다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 smtClean="0"/>
                        <a:t>20 &gt;= 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True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50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&lt;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작다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&lt; 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False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50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&lt;=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작거나 같다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&lt;= 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False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180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==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==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같다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 smtClean="0"/>
                        <a:t>20</a:t>
                      </a:r>
                      <a:r>
                        <a:rPr lang="en-US" altLang="ko-KR" sz="1200" baseline="0" dirty="0" smtClean="0"/>
                        <a:t> == 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False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1808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!=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 !=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같지 않다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 != 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True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67202"/>
              </p:ext>
            </p:extLst>
          </p:nvPr>
        </p:nvGraphicFramePr>
        <p:xfrm>
          <a:off x="197768" y="5817098"/>
          <a:ext cx="6435588" cy="38884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59545"/>
                <a:gridCol w="716979"/>
                <a:gridCol w="3202159"/>
                <a:gridCol w="1158157"/>
                <a:gridCol w="798748"/>
              </a:tblGrid>
              <a:tr h="41827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논리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41827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4182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52672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&amp;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&amp;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와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가 모두 </a:t>
                      </a:r>
                      <a:r>
                        <a:rPr lang="en-US" altLang="ko-KR" sz="1200" dirty="0" smtClean="0"/>
                        <a:t>true</a:t>
                      </a:r>
                      <a:r>
                        <a:rPr lang="ko-KR" altLang="en-US" sz="1200" dirty="0" smtClean="0"/>
                        <a:t>인 경우에만 </a:t>
                      </a:r>
                      <a:r>
                        <a:rPr lang="en-US" altLang="ko-KR" sz="1200" dirty="0" smtClean="0"/>
                        <a:t>true, </a:t>
                      </a:r>
                    </a:p>
                    <a:p>
                      <a:pPr algn="ctr"/>
                      <a:r>
                        <a:rPr lang="ko-KR" altLang="en-US" sz="1200" dirty="0" smtClean="0"/>
                        <a:t>나머지 경우는 모두 </a:t>
                      </a:r>
                      <a:r>
                        <a:rPr lang="en-US" altLang="ko-KR" sz="1200" dirty="0" smtClean="0"/>
                        <a:t>false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(1&gt;2) &amp; (1&lt;2)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F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52672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&amp;&amp;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&amp;&amp;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와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가 모두 </a:t>
                      </a:r>
                      <a:r>
                        <a:rPr lang="en-US" altLang="ko-KR" sz="1200" dirty="0" smtClean="0"/>
                        <a:t>true</a:t>
                      </a:r>
                      <a:r>
                        <a:rPr lang="ko-KR" altLang="en-US" sz="1200" dirty="0" smtClean="0"/>
                        <a:t>인 경우에만 </a:t>
                      </a:r>
                      <a:r>
                        <a:rPr lang="en-US" altLang="ko-KR" sz="1200" dirty="0" smtClean="0"/>
                        <a:t>true,</a:t>
                      </a:r>
                    </a:p>
                    <a:p>
                      <a:pPr algn="ctr"/>
                      <a:r>
                        <a:rPr lang="ko-KR" altLang="en-US" sz="1200" dirty="0" smtClean="0"/>
                        <a:t>단</a:t>
                      </a:r>
                      <a:r>
                        <a:rPr lang="en-US" altLang="ko-KR" sz="1200" dirty="0" smtClean="0"/>
                        <a:t>, a</a:t>
                      </a:r>
                      <a:r>
                        <a:rPr lang="ko-KR" altLang="en-US" sz="1200" dirty="0" smtClean="0"/>
                        <a:t>가 </a:t>
                      </a:r>
                      <a:r>
                        <a:rPr lang="en-US" altLang="ko-KR" sz="1200" dirty="0" smtClean="0"/>
                        <a:t>false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인 경우</a:t>
                      </a:r>
                      <a:r>
                        <a:rPr lang="en-US" altLang="ko-KR" sz="1200" baseline="0" dirty="0" smtClean="0"/>
                        <a:t>, b</a:t>
                      </a:r>
                      <a:r>
                        <a:rPr lang="ko-KR" altLang="en-US" sz="1200" baseline="0" dirty="0" smtClean="0"/>
                        <a:t>를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수행하지 않고 </a:t>
                      </a:r>
                      <a:r>
                        <a:rPr lang="en-US" altLang="ko-KR" sz="1200" baseline="0" dirty="0" smtClean="0"/>
                        <a:t>false.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(1&gt;2) &amp;&amp; (1&lt;2)</a:t>
                      </a:r>
                      <a:endParaRPr lang="ko-KR" alt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F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52672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|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|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와 </a:t>
                      </a:r>
                      <a:r>
                        <a:rPr lang="en-US" altLang="ko-KR" sz="1200" dirty="0" smtClean="0"/>
                        <a:t>b </a:t>
                      </a:r>
                      <a:r>
                        <a:rPr lang="ko-KR" altLang="en-US" sz="1200" dirty="0" smtClean="0"/>
                        <a:t>중 하나라도 </a:t>
                      </a:r>
                      <a:r>
                        <a:rPr lang="en-US" altLang="ko-KR" sz="1200" dirty="0" smtClean="0"/>
                        <a:t>true</a:t>
                      </a:r>
                      <a:r>
                        <a:rPr lang="ko-KR" altLang="en-US" sz="1200" dirty="0" smtClean="0"/>
                        <a:t>면</a:t>
                      </a:r>
                      <a:r>
                        <a:rPr lang="en-US" altLang="ko-KR" sz="1200" dirty="0" smtClean="0"/>
                        <a:t>, true,</a:t>
                      </a:r>
                    </a:p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와 </a:t>
                      </a:r>
                      <a:r>
                        <a:rPr lang="en-US" altLang="ko-KR" sz="1200" dirty="0" smtClean="0"/>
                        <a:t>b </a:t>
                      </a:r>
                      <a:r>
                        <a:rPr lang="ko-KR" altLang="en-US" sz="1200" dirty="0" smtClean="0"/>
                        <a:t>모두 </a:t>
                      </a:r>
                      <a:r>
                        <a:rPr lang="en-US" altLang="ko-KR" sz="1200" dirty="0" smtClean="0"/>
                        <a:t>false</a:t>
                      </a:r>
                      <a:r>
                        <a:rPr lang="ko-KR" altLang="en-US" sz="1200" dirty="0" smtClean="0"/>
                        <a:t>면</a:t>
                      </a:r>
                      <a:r>
                        <a:rPr lang="en-US" altLang="ko-KR" sz="1200" dirty="0" smtClean="0"/>
                        <a:t>, false.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(1&gt;2) | (1&lt;2)</a:t>
                      </a:r>
                      <a:endParaRPr lang="ko-KR" alt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T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52672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||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|| 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와 </a:t>
                      </a:r>
                      <a:r>
                        <a:rPr lang="en-US" altLang="ko-KR" sz="1200" dirty="0" smtClean="0"/>
                        <a:t>b </a:t>
                      </a:r>
                      <a:r>
                        <a:rPr lang="ko-KR" altLang="en-US" sz="1200" dirty="0" smtClean="0"/>
                        <a:t>중 하나라도 </a:t>
                      </a:r>
                      <a:r>
                        <a:rPr lang="en-US" altLang="ko-KR" sz="1200" dirty="0" smtClean="0"/>
                        <a:t>true</a:t>
                      </a:r>
                      <a:r>
                        <a:rPr lang="ko-KR" altLang="en-US" sz="1200" dirty="0" smtClean="0"/>
                        <a:t>면 </a:t>
                      </a:r>
                      <a:r>
                        <a:rPr lang="en-US" altLang="ko-KR" sz="1200" dirty="0" smtClean="0"/>
                        <a:t>true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반환</a:t>
                      </a:r>
                      <a:r>
                        <a:rPr lang="en-US" altLang="ko-KR" sz="1200" baseline="0" dirty="0" smtClean="0"/>
                        <a:t>,</a:t>
                      </a:r>
                    </a:p>
                    <a:p>
                      <a:pPr algn="ctr"/>
                      <a:r>
                        <a:rPr lang="ko-KR" altLang="en-US" sz="1200" dirty="0" smtClean="0"/>
                        <a:t>단</a:t>
                      </a:r>
                      <a:r>
                        <a:rPr lang="en-US" altLang="ko-KR" sz="1200" dirty="0" smtClean="0"/>
                        <a:t>, a</a:t>
                      </a:r>
                      <a:r>
                        <a:rPr lang="ko-KR" altLang="en-US" sz="1200" dirty="0" smtClean="0"/>
                        <a:t>가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>true</a:t>
                      </a:r>
                      <a:r>
                        <a:rPr lang="ko-KR" altLang="en-US" sz="1200" baseline="0" dirty="0" smtClean="0"/>
                        <a:t>인 경우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를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수행하지 않고</a:t>
                      </a:r>
                      <a:r>
                        <a:rPr lang="en-US" altLang="ko-KR" sz="1200" baseline="0" dirty="0" smtClean="0"/>
                        <a:t> true.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(1&gt;2) || (1&lt;2)</a:t>
                      </a:r>
                      <a:endParaRPr lang="ko-KR" alt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T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52672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!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!a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가 </a:t>
                      </a:r>
                      <a:r>
                        <a:rPr lang="en-US" altLang="ko-KR" sz="1200" dirty="0" smtClean="0"/>
                        <a:t>true</a:t>
                      </a:r>
                      <a:r>
                        <a:rPr lang="ko-KR" altLang="en-US" sz="1200" baseline="0" dirty="0" smtClean="0"/>
                        <a:t>면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en-US" altLang="ko-KR" sz="1200" baseline="0" dirty="0" err="1" smtClean="0"/>
                        <a:t>flase</a:t>
                      </a:r>
                      <a:r>
                        <a:rPr lang="en-US" altLang="ko-KR" sz="1200" baseline="0" dirty="0" smtClean="0"/>
                        <a:t>, false</a:t>
                      </a:r>
                      <a:r>
                        <a:rPr lang="ko-KR" altLang="en-US" sz="1200" baseline="0" dirty="0" smtClean="0"/>
                        <a:t>면 </a:t>
                      </a:r>
                      <a:r>
                        <a:rPr lang="en-US" altLang="ko-KR" sz="1200" baseline="0" dirty="0" err="1" smtClean="0"/>
                        <a:t>ture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!(1&lt;2)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F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72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663" y="7257256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609902"/>
              </p:ext>
            </p:extLst>
          </p:nvPr>
        </p:nvGraphicFramePr>
        <p:xfrm>
          <a:off x="197768" y="146609"/>
          <a:ext cx="6471593" cy="293418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19977"/>
                <a:gridCol w="794414"/>
                <a:gridCol w="3057078"/>
                <a:gridCol w="1292103"/>
                <a:gridCol w="708021"/>
              </a:tblGrid>
              <a:tr h="368461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증감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684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36846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3897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++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++a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먼저 변수 </a:t>
                      </a:r>
                      <a:r>
                        <a:rPr lang="en-US" altLang="ko-KR" sz="1200" dirty="0" smtClean="0"/>
                        <a:t>a </a:t>
                      </a:r>
                      <a:r>
                        <a:rPr lang="ko-KR" altLang="en-US" sz="1200" dirty="0" smtClean="0"/>
                        <a:t>값 </a:t>
                      </a:r>
                      <a:r>
                        <a:rPr lang="en-US" altLang="ko-KR" sz="1200" dirty="0" smtClean="0"/>
                        <a:t>1 </a:t>
                      </a:r>
                      <a:r>
                        <a:rPr lang="ko-KR" altLang="en-US" sz="1200" dirty="0" smtClean="0"/>
                        <a:t>증가 후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 </a:t>
                      </a:r>
                      <a:r>
                        <a:rPr lang="ko-KR" altLang="en-US" sz="1200" baseline="0" dirty="0" smtClean="0"/>
                        <a:t>수식 적용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10;</a:t>
                      </a:r>
                    </a:p>
                    <a:p>
                      <a:pPr algn="ctr"/>
                      <a:r>
                        <a:rPr lang="en-US" altLang="ko-KR" sz="1200" baseline="0" dirty="0" smtClean="0"/>
                        <a:t>b = ++a  +  10;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11</a:t>
                      </a:r>
                    </a:p>
                    <a:p>
                      <a:pPr algn="ctr"/>
                      <a:r>
                        <a:rPr lang="en-US" altLang="ko-KR" sz="1200" baseline="0" dirty="0" smtClean="0"/>
                        <a:t>b = 21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89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a++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수식 적용 후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dirty="0" smtClean="0"/>
                        <a:t>나중에 변수 </a:t>
                      </a:r>
                      <a:r>
                        <a:rPr lang="en-US" altLang="ko-KR" sz="1200" dirty="0" smtClean="0"/>
                        <a:t>a </a:t>
                      </a:r>
                      <a:r>
                        <a:rPr lang="ko-KR" altLang="en-US" sz="1200" dirty="0" smtClean="0"/>
                        <a:t>값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dirty="0" smtClean="0"/>
                        <a:t>1 </a:t>
                      </a:r>
                      <a:r>
                        <a:rPr lang="ko-KR" altLang="en-US" sz="1200" dirty="0" smtClean="0"/>
                        <a:t>증가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10;</a:t>
                      </a:r>
                    </a:p>
                    <a:p>
                      <a:pPr algn="ctr"/>
                      <a:r>
                        <a:rPr lang="en-US" altLang="ko-KR" sz="1200" dirty="0" smtClean="0"/>
                        <a:t>b=</a:t>
                      </a:r>
                      <a:r>
                        <a:rPr lang="en-US" altLang="ko-KR" sz="1200" baseline="0" dirty="0" smtClean="0"/>
                        <a:t> a++  + 10;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b</a:t>
                      </a:r>
                      <a:r>
                        <a:rPr lang="en-US" altLang="ko-KR" sz="1200" baseline="0" dirty="0" smtClean="0"/>
                        <a:t> = 20</a:t>
                      </a:r>
                    </a:p>
                    <a:p>
                      <a:pPr algn="ctr"/>
                      <a:r>
                        <a:rPr lang="en-US" altLang="ko-KR" sz="1200" baseline="0" dirty="0" smtClean="0"/>
                        <a:t>a = 11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897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-</a:t>
                      </a:r>
                      <a:r>
                        <a:rPr lang="en-US" altLang="ko-KR" sz="1200" baseline="0" dirty="0" smtClean="0"/>
                        <a:t> 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 - 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먼저 변수 </a:t>
                      </a:r>
                      <a:r>
                        <a:rPr lang="en-US" altLang="ko-KR" sz="1200" dirty="0" smtClean="0"/>
                        <a:t>a </a:t>
                      </a:r>
                      <a:r>
                        <a:rPr lang="ko-KR" altLang="en-US" sz="1200" dirty="0" smtClean="0"/>
                        <a:t>값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>1</a:t>
                      </a:r>
                      <a:r>
                        <a:rPr lang="ko-KR" altLang="en-US" sz="1200" baseline="0" dirty="0" smtClean="0"/>
                        <a:t> 감소 후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dirty="0" smtClean="0"/>
                        <a:t>수식 적용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10;</a:t>
                      </a:r>
                    </a:p>
                    <a:p>
                      <a:pPr algn="ctr"/>
                      <a:r>
                        <a:rPr lang="en-US" altLang="ko-KR" sz="1200" dirty="0" smtClean="0"/>
                        <a:t>b=</a:t>
                      </a:r>
                      <a:r>
                        <a:rPr lang="en-US" altLang="ko-KR" sz="1200" baseline="0" dirty="0" smtClean="0"/>
                        <a:t> - -a  + 10;</a:t>
                      </a:r>
                      <a:endParaRPr lang="ko-KR" alt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9</a:t>
                      </a:r>
                    </a:p>
                    <a:p>
                      <a:pPr algn="ctr"/>
                      <a:r>
                        <a:rPr lang="en-US" altLang="ko-KR" sz="1200" baseline="0" dirty="0" smtClean="0"/>
                        <a:t>b = 19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89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- 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수식 적용 후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dirty="0" smtClean="0"/>
                        <a:t>나중에 변수 </a:t>
                      </a:r>
                      <a:r>
                        <a:rPr lang="en-US" altLang="ko-KR" sz="1200" dirty="0" smtClean="0"/>
                        <a:t>a </a:t>
                      </a:r>
                      <a:r>
                        <a:rPr lang="ko-KR" altLang="en-US" sz="1200" dirty="0" smtClean="0"/>
                        <a:t>값 </a:t>
                      </a:r>
                      <a:r>
                        <a:rPr lang="en-US" altLang="ko-KR" sz="1200" dirty="0" smtClean="0"/>
                        <a:t>1 </a:t>
                      </a:r>
                      <a:r>
                        <a:rPr lang="ko-KR" altLang="en-US" sz="1200" dirty="0" smtClean="0"/>
                        <a:t>감소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10;</a:t>
                      </a:r>
                    </a:p>
                    <a:p>
                      <a:pPr algn="ctr"/>
                      <a:r>
                        <a:rPr lang="en-US" altLang="ko-KR" sz="1200" dirty="0" smtClean="0"/>
                        <a:t>b=</a:t>
                      </a:r>
                      <a:r>
                        <a:rPr lang="en-US" altLang="ko-KR" sz="1200" baseline="0" dirty="0" smtClean="0"/>
                        <a:t> a- -  + 10;</a:t>
                      </a:r>
                      <a:endParaRPr lang="ko-KR" alt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b = 20</a:t>
                      </a:r>
                    </a:p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9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656276"/>
              </p:ext>
            </p:extLst>
          </p:nvPr>
        </p:nvGraphicFramePr>
        <p:xfrm>
          <a:off x="197767" y="3296816"/>
          <a:ext cx="6471593" cy="640871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4964"/>
                <a:gridCol w="731837"/>
                <a:gridCol w="2916804"/>
                <a:gridCol w="1350846"/>
                <a:gridCol w="927142"/>
              </a:tblGrid>
              <a:tr h="38950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비트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7651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3461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7399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&amp;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&amp; b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비트 별로 두 비트가 모두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이면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1, 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하나라도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이면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 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비트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AND)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00000110</a:t>
                      </a:r>
                    </a:p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&amp; 11111101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00000100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7399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|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| b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비트 별로 두 비트가 모두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이면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0,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하나라도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이면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1 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비트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OR)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00000110</a:t>
                      </a:r>
                    </a:p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| 00001000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00001110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7399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^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^ b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비트 별로 두 비트가 서로 다르면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1,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같으면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0(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비트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XOR)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00000110</a:t>
                      </a:r>
                    </a:p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^ 00001111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00001001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7399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~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~a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비트 별 반전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( 0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→ 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1, 1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0 )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~00000110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11111001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8643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&gt;&gt; b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b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비트 수만큼 우측으로 이동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양수면 왼쪽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으로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음수면 왼쪽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로 채움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00010100 &gt;&gt; 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00000101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8643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&lt;&lt;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&lt;&lt; b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b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비트 수만큼 좌측으로 이동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양수면 오른쪽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으로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음수면 오른쪽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로 채움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00010100 &lt;&lt; 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01010000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60791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&gt;&gt;&gt;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&gt;&gt;&gt; b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b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비트 수만큼 우측으로 이동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부호 상관없이 왼쪽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비트를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으로 채움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00010100 &gt;&gt;&gt; 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00000101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81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663" y="7257256"/>
            <a:ext cx="6858000" cy="2648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393755"/>
              </p:ext>
            </p:extLst>
          </p:nvPr>
        </p:nvGraphicFramePr>
        <p:xfrm>
          <a:off x="158967" y="172707"/>
          <a:ext cx="6543599" cy="254804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5725"/>
                <a:gridCol w="929915"/>
                <a:gridCol w="3492456"/>
                <a:gridCol w="744806"/>
                <a:gridCol w="650697"/>
              </a:tblGrid>
              <a:tr h="239207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산술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392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1371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b </a:t>
                      </a:r>
                      <a:r>
                        <a:rPr lang="ko-KR" altLang="en-US" sz="1200" dirty="0" smtClean="0"/>
                        <a:t>값을 </a:t>
                      </a:r>
                      <a:r>
                        <a:rPr lang="en-US" altLang="ko-KR" sz="1200" baseline="0" dirty="0" smtClean="0"/>
                        <a:t>a</a:t>
                      </a:r>
                      <a:r>
                        <a:rPr lang="ko-KR" altLang="en-US" sz="1200" baseline="0" dirty="0" smtClean="0"/>
                        <a:t>에 대입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2;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+=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+=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값에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를 더한 후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에 대입 </a:t>
                      </a:r>
                      <a:r>
                        <a:rPr lang="en-US" altLang="ko-KR" sz="1200" dirty="0" smtClean="0"/>
                        <a:t>( a</a:t>
                      </a:r>
                      <a:r>
                        <a:rPr lang="en-US" altLang="ko-KR" sz="1200" baseline="0" dirty="0" smtClean="0"/>
                        <a:t> = a + b 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+=2;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4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-=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a-=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값에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>b</a:t>
                      </a:r>
                      <a:r>
                        <a:rPr lang="ko-KR" altLang="en-US" sz="1200" baseline="0" dirty="0" smtClean="0"/>
                        <a:t>를 뺀 후</a:t>
                      </a:r>
                      <a:r>
                        <a:rPr lang="en-US" altLang="ko-KR" sz="1200" baseline="0" dirty="0" smtClean="0"/>
                        <a:t>, a</a:t>
                      </a:r>
                      <a:r>
                        <a:rPr lang="ko-KR" altLang="en-US" sz="1200" baseline="0" dirty="0" smtClean="0"/>
                        <a:t>에 대입 </a:t>
                      </a:r>
                      <a:r>
                        <a:rPr lang="en-US" altLang="ko-KR" sz="1200" dirty="0" smtClean="0"/>
                        <a:t>( a</a:t>
                      </a:r>
                      <a:r>
                        <a:rPr lang="en-US" altLang="ko-KR" sz="1200" baseline="0" dirty="0" smtClean="0"/>
                        <a:t> = a - b 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-= 2;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0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*=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*=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값에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를 곱한 후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( a</a:t>
                      </a:r>
                      <a:r>
                        <a:rPr lang="en-US" altLang="ko-KR" sz="1200" baseline="0" dirty="0" smtClean="0"/>
                        <a:t> = a * b 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*= 2;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4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/=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/=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값에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를 나눈 후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( a</a:t>
                      </a:r>
                      <a:r>
                        <a:rPr lang="en-US" altLang="ko-KR" sz="1200" baseline="0" dirty="0" smtClean="0"/>
                        <a:t> = a / b 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/= 2;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= 1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90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%=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 %= 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값을 </a:t>
                      </a:r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로 나눈 나머지를 </a:t>
                      </a:r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에 대입 </a:t>
                      </a:r>
                      <a:r>
                        <a:rPr lang="en-US" altLang="ko-KR" sz="1200" dirty="0" smtClean="0"/>
                        <a:t>( a</a:t>
                      </a:r>
                      <a:r>
                        <a:rPr lang="en-US" altLang="ko-KR" sz="1200" baseline="0" dirty="0" smtClean="0"/>
                        <a:t> = a % b 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 %= 2;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0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87356"/>
              </p:ext>
            </p:extLst>
          </p:nvPr>
        </p:nvGraphicFramePr>
        <p:xfrm>
          <a:off x="158967" y="2913896"/>
          <a:ext cx="6543599" cy="1463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547669"/>
                <a:gridCol w="1602237"/>
                <a:gridCol w="2085380"/>
                <a:gridCol w="1650391"/>
                <a:gridCol w="657922"/>
              </a:tblGrid>
              <a:tr h="239207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조건 연산자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392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종류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기능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 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연산식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?: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조건</a:t>
                      </a:r>
                      <a:r>
                        <a:rPr lang="en-US" altLang="ko-KR" sz="1200" baseline="0" dirty="0" smtClean="0"/>
                        <a:t> ? </a:t>
                      </a:r>
                      <a:r>
                        <a:rPr lang="ko-KR" altLang="en-US" sz="1200" baseline="0" dirty="0" smtClean="0"/>
                        <a:t>처리</a:t>
                      </a:r>
                      <a:r>
                        <a:rPr lang="en-US" altLang="ko-KR" sz="1200" baseline="0" dirty="0" smtClean="0"/>
                        <a:t>1: </a:t>
                      </a:r>
                      <a:r>
                        <a:rPr lang="ko-KR" altLang="en-US" sz="1200" baseline="0" dirty="0" smtClean="0"/>
                        <a:t>처리</a:t>
                      </a:r>
                      <a:r>
                        <a:rPr lang="en-US" altLang="ko-KR" sz="1200" baseline="0" dirty="0" smtClean="0"/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조건이 참이면 처리 </a:t>
                      </a:r>
                      <a:r>
                        <a:rPr lang="en-US" altLang="ko-KR" sz="1200" dirty="0" smtClean="0"/>
                        <a:t>1 </a:t>
                      </a:r>
                      <a:r>
                        <a:rPr lang="ko-KR" altLang="en-US" sz="1200" dirty="0" smtClean="0"/>
                        <a:t>수행</a:t>
                      </a:r>
                      <a:r>
                        <a:rPr lang="en-US" altLang="ko-KR" sz="1200" dirty="0" smtClean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 smtClean="0"/>
                        <a:t>거짓이면 처리 </a:t>
                      </a:r>
                      <a:r>
                        <a:rPr lang="en-US" altLang="ko-KR" sz="1200" dirty="0" smtClean="0"/>
                        <a:t>2 </a:t>
                      </a:r>
                      <a:r>
                        <a:rPr lang="ko-KR" altLang="en-US" sz="1200" dirty="0" smtClean="0"/>
                        <a:t>수행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</a:t>
                      </a:r>
                      <a:r>
                        <a:rPr lang="en-US" altLang="ko-KR" sz="1200" baseline="0" dirty="0" smtClean="0"/>
                        <a:t> = 2;</a:t>
                      </a:r>
                    </a:p>
                    <a:p>
                      <a:pPr algn="ctr" latinLnBrk="1"/>
                      <a:r>
                        <a:rPr lang="en-US" altLang="ko-KR" sz="1200" baseline="0" dirty="0" smtClean="0"/>
                        <a:t>b = 3;</a:t>
                      </a:r>
                    </a:p>
                    <a:p>
                      <a:pPr algn="ctr" latinLnBrk="1"/>
                      <a:r>
                        <a:rPr lang="en-US" altLang="ko-KR" sz="1200" baseline="0" dirty="0" smtClean="0"/>
                        <a:t>c = ( a &gt; b )? a : b ;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</a:t>
                      </a:r>
                      <a:r>
                        <a:rPr lang="en-US" altLang="ko-KR" sz="1200" baseline="0" dirty="0" smtClean="0"/>
                        <a:t> = 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069129"/>
              </p:ext>
            </p:extLst>
          </p:nvPr>
        </p:nvGraphicFramePr>
        <p:xfrm>
          <a:off x="168320" y="4592952"/>
          <a:ext cx="6552727" cy="511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127"/>
                <a:gridCol w="2897300"/>
                <a:gridCol w="2897300"/>
              </a:tblGrid>
              <a:tr h="31953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연산자 우선 순위</a:t>
                      </a:r>
                      <a:endParaRPr lang="ko-KR" altLang="en-US" sz="12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195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우선순위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연산자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함수 괄호 배열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en-US" altLang="ko-KR" sz="1200" baseline="0" dirty="0" smtClean="0"/>
                        <a:t> ) [ ] .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전치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++  - -  ~  !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승제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*  /  %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가감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+  -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비트 이동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&lt;&lt;  &gt;&gt;  &gt;&gt;&gt;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  &lt;=  &gt;</a:t>
                      </a:r>
                      <a:r>
                        <a:rPr lang="en-US" altLang="ko-KR" sz="1200" baseline="0" dirty="0" smtClean="0"/>
                        <a:t>  &gt;=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비교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>( </a:t>
                      </a:r>
                      <a:r>
                        <a:rPr lang="ko-KR" altLang="en-US" sz="1200" baseline="0" dirty="0" smtClean="0"/>
                        <a:t>등식 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en-US" altLang="ko-KR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==  !=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비트 </a:t>
                      </a:r>
                      <a:r>
                        <a:rPr lang="en-US" altLang="ko-KR" sz="1200" dirty="0" smtClean="0"/>
                        <a:t>AND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&amp;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비트 </a:t>
                      </a:r>
                      <a:r>
                        <a:rPr lang="en-US" altLang="ko-KR" sz="1200" dirty="0" smtClean="0"/>
                        <a:t>XOR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^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비트 </a:t>
                      </a:r>
                      <a:r>
                        <a:rPr lang="en-US" altLang="ko-KR" sz="1200" baseline="0" dirty="0" smtClean="0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|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논리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>AND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&amp;&amp;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논리 </a:t>
                      </a:r>
                      <a:r>
                        <a:rPr lang="en-US" altLang="ko-KR" sz="1200" dirty="0" smtClean="0"/>
                        <a:t>OR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||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조건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?: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31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대입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=</a:t>
                      </a:r>
                      <a:r>
                        <a:rPr lang="ko-KR" altLang="en-US" sz="1200" baseline="0" dirty="0" smtClean="0"/>
                        <a:t> 및 축약 대입 연산자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47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4644" y="240288"/>
            <a:ext cx="6408712" cy="464240"/>
          </a:xfrm>
        </p:spPr>
        <p:txBody>
          <a:bodyPr/>
          <a:lstStyle/>
          <a:p>
            <a:r>
              <a:rPr lang="en-US" altLang="ko-KR" sz="2000" dirty="0" smtClean="0">
                <a:latin typeface="+mn-ea"/>
                <a:ea typeface="+mn-ea"/>
              </a:rPr>
              <a:t>8. </a:t>
            </a:r>
            <a:r>
              <a:rPr lang="ko-KR" altLang="en-US" sz="2000" dirty="0" err="1" smtClean="0">
                <a:latin typeface="+mn-ea"/>
                <a:ea typeface="+mn-ea"/>
              </a:rPr>
              <a:t>제어문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4644" y="848544"/>
            <a:ext cx="6408712" cy="8784976"/>
          </a:xfrm>
        </p:spPr>
        <p:txBody>
          <a:bodyPr>
            <a:noAutofit/>
          </a:bodyPr>
          <a:lstStyle/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b="0" dirty="0" err="1" smtClean="0">
                <a:latin typeface="+mn-ea"/>
              </a:rPr>
              <a:t>선택문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       </a:t>
            </a:r>
            <a:r>
              <a:rPr lang="ko-KR" altLang="en-US" sz="1400" dirty="0" smtClean="0">
                <a:latin typeface="+mn-ea"/>
              </a:rPr>
              <a:t>조건에 </a:t>
            </a:r>
            <a:r>
              <a:rPr lang="ko-KR" altLang="en-US" sz="1400" dirty="0">
                <a:latin typeface="+mn-ea"/>
              </a:rPr>
              <a:t>따라 선택적으로 문장 수행</a:t>
            </a:r>
            <a:r>
              <a:rPr lang="en-US" altLang="ko-KR" sz="1400" dirty="0" smtClean="0">
                <a:latin typeface="+mn-ea"/>
              </a:rPr>
              <a:t>.</a:t>
            </a:r>
            <a:endParaRPr lang="en-US" altLang="ko-KR" b="0" dirty="0" smtClean="0">
              <a:latin typeface="+mn-ea"/>
            </a:endParaRPr>
          </a:p>
          <a:p>
            <a:pPr lvl="2">
              <a:lnSpc>
                <a:spcPts val="2000"/>
              </a:lnSpc>
            </a:pPr>
            <a:r>
              <a:rPr lang="en-US" altLang="ko-KR" sz="1400" dirty="0" smtClean="0">
                <a:latin typeface="+mn-ea"/>
              </a:rPr>
              <a:t>if</a:t>
            </a:r>
            <a:r>
              <a:rPr lang="ko-KR" altLang="en-US" sz="1400" dirty="0" smtClean="0">
                <a:latin typeface="+mn-ea"/>
              </a:rPr>
              <a:t>문</a:t>
            </a:r>
            <a:r>
              <a:rPr lang="en-US" altLang="ko-KR" sz="1400" dirty="0" smtClean="0">
                <a:latin typeface="+mn-ea"/>
              </a:rPr>
              <a:t>	</a:t>
            </a:r>
          </a:p>
          <a:p>
            <a:pPr lvl="3">
              <a:lnSpc>
                <a:spcPts val="2000"/>
              </a:lnSpc>
              <a:buFont typeface="Wingdings" pitchFamily="2" charset="2"/>
              <a:buChar char="ü"/>
            </a:pPr>
            <a:r>
              <a:rPr lang="en-US" altLang="ko-KR" sz="1200" dirty="0" smtClean="0">
                <a:latin typeface="+mn-ea"/>
              </a:rPr>
              <a:t>if		      if( </a:t>
            </a:r>
            <a:r>
              <a:rPr lang="ko-KR" altLang="en-US" sz="1200" dirty="0" smtClean="0">
                <a:latin typeface="+mn-ea"/>
              </a:rPr>
              <a:t>조건 </a:t>
            </a:r>
            <a:r>
              <a:rPr lang="en-US" altLang="ko-KR" sz="1200" dirty="0" smtClean="0">
                <a:latin typeface="+mn-ea"/>
              </a:rPr>
              <a:t>){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}</a:t>
            </a:r>
          </a:p>
          <a:p>
            <a:pPr lvl="3">
              <a:lnSpc>
                <a:spcPts val="2000"/>
              </a:lnSpc>
              <a:buFont typeface="Wingdings" pitchFamily="2" charset="2"/>
              <a:buChar char="ü"/>
            </a:pPr>
            <a:r>
              <a:rPr lang="en-US" altLang="ko-KR" sz="1200" dirty="0" smtClean="0">
                <a:latin typeface="+mn-ea"/>
              </a:rPr>
              <a:t>if ~ else	      if( </a:t>
            </a:r>
            <a:r>
              <a:rPr lang="ko-KR" altLang="en-US" sz="1200" dirty="0" smtClean="0">
                <a:latin typeface="+mn-ea"/>
              </a:rPr>
              <a:t>조건</a:t>
            </a:r>
            <a:r>
              <a:rPr lang="en-US" altLang="ko-KR" sz="1200" dirty="0" smtClean="0">
                <a:latin typeface="+mn-ea"/>
              </a:rPr>
              <a:t>1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){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} else{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}</a:t>
            </a:r>
          </a:p>
          <a:p>
            <a:pPr lvl="3">
              <a:lnSpc>
                <a:spcPts val="2000"/>
              </a:lnSpc>
              <a:buFont typeface="Wingdings" pitchFamily="2" charset="2"/>
              <a:buChar char="ü"/>
            </a:pPr>
            <a:r>
              <a:rPr lang="en-US" altLang="ko-KR" sz="1200" dirty="0" smtClean="0">
                <a:latin typeface="+mn-ea"/>
              </a:rPr>
              <a:t>if ~ else if ~ else      if(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조건</a:t>
            </a:r>
            <a:r>
              <a:rPr lang="en-US" altLang="ko-KR" sz="1200" dirty="0" smtClean="0">
                <a:latin typeface="+mn-ea"/>
              </a:rPr>
              <a:t>1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){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} else if( </a:t>
            </a:r>
            <a:r>
              <a:rPr lang="ko-KR" altLang="en-US" sz="1200" dirty="0" smtClean="0">
                <a:latin typeface="+mn-ea"/>
              </a:rPr>
              <a:t>조건</a:t>
            </a:r>
            <a:r>
              <a:rPr lang="en-US" altLang="ko-KR" sz="1200" dirty="0" smtClean="0">
                <a:latin typeface="+mn-ea"/>
              </a:rPr>
              <a:t>2 ){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} else{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}</a:t>
            </a:r>
          </a:p>
          <a:p>
            <a:pPr lvl="2">
              <a:lnSpc>
                <a:spcPts val="2000"/>
              </a:lnSpc>
            </a:pPr>
            <a:r>
              <a:rPr lang="en-US" altLang="ko-KR" sz="1400" b="0" dirty="0" smtClean="0">
                <a:latin typeface="+mn-ea"/>
              </a:rPr>
              <a:t>switch ~ case </a:t>
            </a:r>
            <a:r>
              <a:rPr lang="ko-KR" altLang="en-US" sz="1400" b="0" dirty="0" smtClean="0">
                <a:latin typeface="+mn-ea"/>
              </a:rPr>
              <a:t>문</a:t>
            </a:r>
            <a:endParaRPr lang="en-US" altLang="ko-KR" sz="1400" b="0" dirty="0" smtClean="0">
              <a:latin typeface="+mn-ea"/>
            </a:endParaRP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200" b="0" dirty="0" err="1" smtClean="0">
                <a:latin typeface="+mn-ea"/>
              </a:rPr>
              <a:t>swich</a:t>
            </a:r>
            <a:r>
              <a:rPr lang="en-US" altLang="ko-KR" sz="1200" b="0" dirty="0" smtClean="0">
                <a:latin typeface="+mn-ea"/>
              </a:rPr>
              <a:t>( </a:t>
            </a:r>
            <a:r>
              <a:rPr lang="ko-KR" altLang="en-US" sz="1200" b="0" dirty="0" smtClean="0">
                <a:latin typeface="+mn-ea"/>
              </a:rPr>
              <a:t>조건 </a:t>
            </a:r>
            <a:r>
              <a:rPr lang="en-US" altLang="ko-KR" sz="1200" b="0" dirty="0" smtClean="0">
                <a:latin typeface="+mn-ea"/>
              </a:rPr>
              <a:t>){</a:t>
            </a: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200" b="0" dirty="0" smtClean="0">
                <a:latin typeface="+mn-ea"/>
              </a:rPr>
              <a:t>	case </a:t>
            </a:r>
            <a:r>
              <a:rPr lang="ko-KR" altLang="en-US" sz="1200" b="0" dirty="0" smtClean="0">
                <a:latin typeface="+mn-ea"/>
              </a:rPr>
              <a:t>상수</a:t>
            </a:r>
            <a:r>
              <a:rPr lang="en-US" altLang="ko-KR" sz="1200" b="0" dirty="0" smtClean="0">
                <a:latin typeface="+mn-ea"/>
              </a:rPr>
              <a:t>1 : </a:t>
            </a:r>
            <a:r>
              <a:rPr lang="ko-KR" altLang="en-US" sz="1200" b="0" dirty="0" err="1" smtClean="0">
                <a:latin typeface="+mn-ea"/>
              </a:rPr>
              <a:t>실행문</a:t>
            </a:r>
            <a:r>
              <a:rPr lang="en-US" altLang="ko-KR" sz="1200" b="0" dirty="0" smtClean="0">
                <a:latin typeface="+mn-ea"/>
              </a:rPr>
              <a:t>; [</a:t>
            </a:r>
            <a:r>
              <a:rPr lang="en-US" altLang="ko-KR" sz="1200" dirty="0" smtClean="0">
                <a:latin typeface="+mn-ea"/>
              </a:rPr>
              <a:t>break;]</a:t>
            </a: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200" b="0" dirty="0">
                <a:latin typeface="+mn-ea"/>
              </a:rPr>
              <a:t>	</a:t>
            </a:r>
            <a:r>
              <a:rPr lang="en-US" altLang="ko-KR" sz="1200" dirty="0">
                <a:latin typeface="+mn-ea"/>
              </a:rPr>
              <a:t>case </a:t>
            </a:r>
            <a:r>
              <a:rPr lang="ko-KR" altLang="en-US" sz="1200" dirty="0" smtClean="0">
                <a:latin typeface="+mn-ea"/>
              </a:rPr>
              <a:t>상수</a:t>
            </a:r>
            <a:r>
              <a:rPr lang="en-US" altLang="ko-KR" sz="1200" dirty="0" smtClean="0">
                <a:latin typeface="+mn-ea"/>
              </a:rPr>
              <a:t>2 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 err="1">
                <a:latin typeface="+mn-ea"/>
              </a:rPr>
              <a:t>실행문</a:t>
            </a:r>
            <a:r>
              <a:rPr lang="en-US" altLang="ko-KR" sz="1200" dirty="0">
                <a:latin typeface="+mn-ea"/>
              </a:rPr>
              <a:t>; [break;]</a:t>
            </a: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200" b="0" dirty="0" smtClean="0">
                <a:latin typeface="+mn-ea"/>
              </a:rPr>
              <a:t>	</a:t>
            </a:r>
            <a:r>
              <a:rPr lang="en-US" altLang="ko-KR" sz="1200" dirty="0" smtClean="0">
                <a:latin typeface="+mn-ea"/>
              </a:rPr>
              <a:t>[default :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;]</a:t>
            </a: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200" b="0" dirty="0" smtClean="0">
                <a:latin typeface="+mn-ea"/>
              </a:rPr>
              <a:t>}</a:t>
            </a:r>
          </a:p>
          <a:p>
            <a:pPr marL="466344" lvl="3" indent="0">
              <a:lnSpc>
                <a:spcPts val="2000"/>
              </a:lnSpc>
              <a:buNone/>
            </a:pPr>
            <a:endParaRPr lang="en-US" altLang="ko-KR" sz="1400" b="0" dirty="0" smtClean="0">
              <a:latin typeface="+mn-ea"/>
            </a:endParaRPr>
          </a:p>
          <a:p>
            <a:pPr>
              <a:lnSpc>
                <a:spcPts val="2000"/>
              </a:lnSpc>
              <a:buFont typeface="Wingdings" pitchFamily="2" charset="2"/>
              <a:buChar char="§"/>
            </a:pPr>
            <a:r>
              <a:rPr lang="ko-KR" altLang="en-US" b="0" dirty="0" err="1" smtClean="0">
                <a:latin typeface="+mn-ea"/>
              </a:rPr>
              <a:t>반복문</a:t>
            </a:r>
            <a:r>
              <a:rPr lang="ko-KR" altLang="en-US" b="0" dirty="0" smtClean="0">
                <a:latin typeface="+mn-ea"/>
              </a:rPr>
              <a:t>        </a:t>
            </a:r>
            <a:r>
              <a:rPr lang="ko-KR" altLang="en-US" sz="1400" b="0" dirty="0" smtClean="0">
                <a:latin typeface="+mn-ea"/>
              </a:rPr>
              <a:t>조건이 참인 동안에 문장이나 블록을 반복</a:t>
            </a:r>
            <a:endParaRPr lang="en-US" altLang="ko-KR" sz="1400" b="0" dirty="0" smtClean="0">
              <a:latin typeface="+mn-ea"/>
            </a:endParaRPr>
          </a:p>
          <a:p>
            <a:pPr lvl="2">
              <a:lnSpc>
                <a:spcPts val="2000"/>
              </a:lnSpc>
            </a:pPr>
            <a:r>
              <a:rPr lang="en-US" altLang="ko-KR" sz="1400" dirty="0" smtClean="0">
                <a:latin typeface="+mn-ea"/>
              </a:rPr>
              <a:t>for</a:t>
            </a:r>
            <a:r>
              <a:rPr lang="ko-KR" altLang="en-US" sz="1400" dirty="0" smtClean="0">
                <a:latin typeface="+mn-ea"/>
              </a:rPr>
              <a:t>문</a:t>
            </a:r>
            <a:endParaRPr lang="en-US" altLang="ko-KR" sz="1400" dirty="0">
              <a:latin typeface="+mn-ea"/>
            </a:endParaRP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200" dirty="0" smtClean="0">
                <a:latin typeface="+mn-ea"/>
              </a:rPr>
              <a:t>for(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i=0; (</a:t>
            </a:r>
            <a:r>
              <a:rPr lang="ko-KR" altLang="en-US" sz="1200" dirty="0" err="1" smtClean="0">
                <a:latin typeface="+mn-ea"/>
              </a:rPr>
              <a:t>초기식</a:t>
            </a:r>
            <a:r>
              <a:rPr lang="en-US" altLang="ko-KR" sz="1200" dirty="0" smtClean="0">
                <a:latin typeface="+mn-ea"/>
              </a:rPr>
              <a:t>) i&gt;10; (</a:t>
            </a:r>
            <a:r>
              <a:rPr lang="ko-KR" altLang="en-US" sz="1200" dirty="0" err="1" smtClean="0">
                <a:latin typeface="+mn-ea"/>
              </a:rPr>
              <a:t>조건식</a:t>
            </a:r>
            <a:r>
              <a:rPr lang="en-US" altLang="ko-KR" sz="1200" dirty="0" smtClean="0">
                <a:latin typeface="+mn-ea"/>
              </a:rPr>
              <a:t>) i++(</a:t>
            </a:r>
            <a:r>
              <a:rPr lang="ko-KR" altLang="en-US" sz="1200" dirty="0" err="1" smtClean="0">
                <a:latin typeface="+mn-ea"/>
              </a:rPr>
              <a:t>증감식</a:t>
            </a:r>
            <a:r>
              <a:rPr lang="en-US" altLang="ko-KR" sz="1200" dirty="0" smtClean="0">
                <a:latin typeface="+mn-ea"/>
              </a:rPr>
              <a:t>) {  </a:t>
            </a:r>
            <a:r>
              <a:rPr lang="ko-KR" altLang="en-US" sz="1200" dirty="0" err="1" smtClean="0">
                <a:latin typeface="+mn-ea"/>
              </a:rPr>
              <a:t>실행문</a:t>
            </a:r>
            <a:r>
              <a:rPr lang="en-US" altLang="ko-KR" sz="1200" dirty="0" smtClean="0">
                <a:latin typeface="+mn-ea"/>
              </a:rPr>
              <a:t>;  }</a:t>
            </a:r>
          </a:p>
          <a:p>
            <a:pPr lvl="2">
              <a:lnSpc>
                <a:spcPts val="2000"/>
              </a:lnSpc>
            </a:pPr>
            <a:r>
              <a:rPr lang="en-US" altLang="ko-KR" sz="1400" dirty="0" smtClean="0">
                <a:latin typeface="+mn-ea"/>
              </a:rPr>
              <a:t>while</a:t>
            </a:r>
            <a:r>
              <a:rPr lang="ko-KR" altLang="en-US" sz="1400" dirty="0" smtClean="0">
                <a:latin typeface="+mn-ea"/>
              </a:rPr>
              <a:t>문</a:t>
            </a:r>
            <a:endParaRPr lang="en-US" altLang="ko-KR" sz="1400" dirty="0" smtClean="0">
              <a:latin typeface="+mn-ea"/>
            </a:endParaRP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400" dirty="0" smtClean="0">
                <a:latin typeface="+mn-ea"/>
              </a:rPr>
              <a:t>while(</a:t>
            </a:r>
            <a:r>
              <a:rPr lang="ko-KR" altLang="en-US" sz="1400" dirty="0" err="1" smtClean="0">
                <a:latin typeface="+mn-ea"/>
              </a:rPr>
              <a:t>조건식</a:t>
            </a:r>
            <a:r>
              <a:rPr lang="en-US" altLang="ko-KR" sz="1400" dirty="0" smtClean="0">
                <a:latin typeface="+mn-ea"/>
              </a:rPr>
              <a:t>){</a:t>
            </a: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400" dirty="0">
                <a:latin typeface="+mn-ea"/>
              </a:rPr>
              <a:t>	</a:t>
            </a:r>
            <a:r>
              <a:rPr lang="ko-KR" altLang="en-US" sz="1400" dirty="0" err="1" smtClean="0">
                <a:latin typeface="+mn-ea"/>
              </a:rPr>
              <a:t>실행문</a:t>
            </a:r>
            <a:r>
              <a:rPr lang="en-US" altLang="ko-KR" sz="1400" dirty="0" smtClean="0">
                <a:latin typeface="+mn-ea"/>
              </a:rPr>
              <a:t>;</a:t>
            </a: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400" dirty="0">
                <a:latin typeface="+mn-ea"/>
              </a:rPr>
              <a:t>}</a:t>
            </a:r>
            <a:endParaRPr lang="en-US" altLang="ko-KR" sz="1400" dirty="0" smtClean="0">
              <a:latin typeface="+mn-ea"/>
            </a:endParaRPr>
          </a:p>
          <a:p>
            <a:pPr lvl="2">
              <a:lnSpc>
                <a:spcPts val="2000"/>
              </a:lnSpc>
            </a:pPr>
            <a:r>
              <a:rPr lang="en-US" altLang="ko-KR" sz="1400" dirty="0" smtClean="0">
                <a:latin typeface="+mn-ea"/>
              </a:rPr>
              <a:t>do ~ while</a:t>
            </a:r>
            <a:r>
              <a:rPr lang="ko-KR" altLang="en-US" sz="1400" dirty="0" smtClean="0">
                <a:latin typeface="+mn-ea"/>
              </a:rPr>
              <a:t>문</a:t>
            </a:r>
            <a:r>
              <a:rPr lang="en-US" altLang="ko-KR" sz="1400" dirty="0" smtClean="0">
                <a:latin typeface="+mn-ea"/>
              </a:rPr>
              <a:t>	</a:t>
            </a:r>
            <a:r>
              <a:rPr lang="ko-KR" altLang="en-US" sz="1400" dirty="0" smtClean="0">
                <a:latin typeface="+mn-ea"/>
              </a:rPr>
              <a:t>무조건 한 번은 실행</a:t>
            </a:r>
            <a:endParaRPr lang="en-US" altLang="ko-KR" sz="1400" dirty="0" smtClean="0">
              <a:latin typeface="+mn-ea"/>
            </a:endParaRPr>
          </a:p>
          <a:p>
            <a:pPr marL="466344" lvl="3" indent="0">
              <a:lnSpc>
                <a:spcPts val="2000"/>
              </a:lnSpc>
              <a:buNone/>
            </a:pPr>
            <a:r>
              <a:rPr lang="en-US" altLang="ko-KR" sz="1400" b="0" dirty="0" smtClean="0">
                <a:latin typeface="+mn-ea"/>
              </a:rPr>
              <a:t>do{ </a:t>
            </a:r>
            <a:r>
              <a:rPr lang="ko-KR" altLang="en-US" sz="1400" b="0" dirty="0" err="1" smtClean="0">
                <a:latin typeface="+mn-ea"/>
              </a:rPr>
              <a:t>실행문</a:t>
            </a:r>
            <a:r>
              <a:rPr lang="en-US" altLang="ko-KR" sz="1400" dirty="0" smtClean="0">
                <a:latin typeface="+mn-ea"/>
              </a:rPr>
              <a:t>; } while( </a:t>
            </a:r>
            <a:r>
              <a:rPr lang="ko-KR" altLang="en-US" sz="1400" dirty="0" err="1" smtClean="0">
                <a:latin typeface="+mn-ea"/>
              </a:rPr>
              <a:t>조건식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);</a:t>
            </a:r>
          </a:p>
          <a:p>
            <a:pPr marL="466344" lvl="3" indent="0">
              <a:lnSpc>
                <a:spcPts val="2000"/>
              </a:lnSpc>
              <a:buNone/>
            </a:pPr>
            <a:endParaRPr lang="en-US" altLang="ko-KR" sz="1400" b="0" dirty="0" smtClean="0">
              <a:latin typeface="+mn-ea"/>
            </a:endParaRPr>
          </a:p>
          <a:p>
            <a:pPr>
              <a:lnSpc>
                <a:spcPts val="2000"/>
              </a:lnSpc>
              <a:buFont typeface="Wingdings" pitchFamily="2" charset="2"/>
              <a:buChar char="§"/>
            </a:pPr>
            <a:r>
              <a:rPr lang="ko-KR" altLang="en-US" b="0" dirty="0" err="1" smtClean="0">
                <a:latin typeface="+mn-ea"/>
              </a:rPr>
              <a:t>분기문</a:t>
            </a:r>
            <a:r>
              <a:rPr lang="en-US" altLang="ko-KR" b="0" dirty="0" smtClean="0">
                <a:latin typeface="+mn-ea"/>
              </a:rPr>
              <a:t>		</a:t>
            </a:r>
            <a:r>
              <a:rPr lang="ko-KR" altLang="en-US" sz="1400" b="0" dirty="0" smtClean="0">
                <a:latin typeface="+mn-ea"/>
              </a:rPr>
              <a:t>프로그램의 수행 흐름을 강제로 특정 위치로 이동</a:t>
            </a:r>
            <a:endParaRPr lang="en-US" altLang="ko-KR" b="0" dirty="0" smtClean="0">
              <a:latin typeface="+mn-ea"/>
            </a:endParaRPr>
          </a:p>
          <a:p>
            <a:pPr lvl="2">
              <a:lnSpc>
                <a:spcPts val="2000"/>
              </a:lnSpc>
            </a:pPr>
            <a:r>
              <a:rPr lang="en-US" altLang="ko-KR" sz="1400" b="0" dirty="0" smtClean="0">
                <a:latin typeface="+mn-ea"/>
              </a:rPr>
              <a:t>break</a:t>
            </a:r>
            <a:r>
              <a:rPr lang="ko-KR" altLang="en-US" sz="1400" b="0" dirty="0" smtClean="0">
                <a:latin typeface="+mn-ea"/>
              </a:rPr>
              <a:t>문</a:t>
            </a:r>
            <a:endParaRPr lang="en-US" altLang="ko-KR" sz="1400" dirty="0" smtClean="0">
              <a:latin typeface="+mn-ea"/>
            </a:endParaRPr>
          </a:p>
          <a:p>
            <a:pPr marL="685800" lvl="4" indent="0">
              <a:lnSpc>
                <a:spcPts val="2000"/>
              </a:lnSpc>
              <a:buNone/>
            </a:pPr>
            <a:r>
              <a:rPr lang="ko-KR" altLang="en-US" sz="1400" dirty="0" smtClean="0">
                <a:latin typeface="+mn-ea"/>
              </a:rPr>
              <a:t>가장 가까운 반복 블록을 빠져 나올 때 사용</a:t>
            </a:r>
            <a:endParaRPr lang="en-US" altLang="ko-KR" sz="1400" b="0" dirty="0" smtClean="0">
              <a:latin typeface="+mn-ea"/>
            </a:endParaRPr>
          </a:p>
          <a:p>
            <a:pPr lvl="2">
              <a:lnSpc>
                <a:spcPts val="2000"/>
              </a:lnSpc>
            </a:pPr>
            <a:r>
              <a:rPr lang="en-US" altLang="ko-KR" sz="1400" b="0" dirty="0" smtClean="0">
                <a:latin typeface="+mn-ea"/>
              </a:rPr>
              <a:t>continue</a:t>
            </a:r>
            <a:r>
              <a:rPr lang="ko-KR" altLang="en-US" sz="1400" b="0" dirty="0" smtClean="0">
                <a:latin typeface="+mn-ea"/>
              </a:rPr>
              <a:t>문</a:t>
            </a:r>
            <a:endParaRPr lang="en-US" altLang="ko-KR" sz="1400" b="0" dirty="0" smtClean="0">
              <a:latin typeface="+mn-ea"/>
            </a:endParaRPr>
          </a:p>
          <a:p>
            <a:pPr marL="685800" lvl="4" indent="0">
              <a:lnSpc>
                <a:spcPts val="2000"/>
              </a:lnSpc>
              <a:buNone/>
            </a:pPr>
            <a:r>
              <a:rPr lang="ko-KR" altLang="en-US" sz="1400" dirty="0" smtClean="0">
                <a:latin typeface="+mn-ea"/>
              </a:rPr>
              <a:t>이후의 문장은 실행하지 않고 그 다음 반복을 계속할 때 사용</a:t>
            </a:r>
            <a:endParaRPr lang="en-US" altLang="ko-KR" sz="1400" b="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807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4644" y="128464"/>
            <a:ext cx="6408712" cy="464240"/>
          </a:xfrm>
        </p:spPr>
        <p:txBody>
          <a:bodyPr/>
          <a:lstStyle/>
          <a:p>
            <a:r>
              <a:rPr lang="en-US" altLang="ko-KR" sz="2000" dirty="0" smtClean="0">
                <a:latin typeface="+mn-ea"/>
                <a:ea typeface="+mn-ea"/>
              </a:rPr>
              <a:t>9. </a:t>
            </a:r>
            <a:r>
              <a:rPr lang="ko-KR" altLang="en-US" sz="2000" dirty="0" smtClean="0">
                <a:latin typeface="+mn-ea"/>
                <a:ea typeface="+mn-ea"/>
              </a:rPr>
              <a:t>객체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4644" y="632520"/>
            <a:ext cx="6408712" cy="9217024"/>
          </a:xfrm>
        </p:spPr>
        <p:txBody>
          <a:bodyPr>
            <a:noAutofit/>
          </a:bodyPr>
          <a:lstStyle/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b="0" dirty="0" smtClean="0">
                <a:latin typeface="+mn-ea"/>
              </a:rPr>
              <a:t>객체 지향의 발전</a:t>
            </a:r>
            <a:endParaRPr lang="en-US" altLang="ko-KR" sz="1400" b="0" dirty="0" smtClean="0">
              <a:latin typeface="+mn-ea"/>
            </a:endParaRPr>
          </a:p>
          <a:p>
            <a:pPr marL="571500" lvl="3" indent="-342900">
              <a:lnSpc>
                <a:spcPts val="2000"/>
              </a:lnSpc>
              <a:spcBef>
                <a:spcPts val="800"/>
              </a:spcBef>
              <a:buClrTx/>
              <a:buFont typeface="Wingdings" pitchFamily="2" charset="2"/>
              <a:buChar char="ü"/>
            </a:pPr>
            <a:r>
              <a:rPr lang="ko-KR" altLang="en-US" sz="1200" dirty="0" err="1">
                <a:latin typeface="+mn-ea"/>
              </a:rPr>
              <a:t>시뮬라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(1960)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실용적 언어로 발전하지는 못하였으나 객체 지향 이론을 소개</a:t>
            </a:r>
            <a:endParaRPr lang="en-US" altLang="ko-KR" sz="1200" dirty="0">
              <a:latin typeface="+mn-ea"/>
            </a:endParaRPr>
          </a:p>
          <a:p>
            <a:pPr marL="571500" lvl="3" indent="-342900">
              <a:lnSpc>
                <a:spcPts val="2000"/>
              </a:lnSpc>
              <a:spcBef>
                <a:spcPts val="800"/>
              </a:spcBef>
              <a:buClrTx/>
              <a:buFont typeface="Wingdings" pitchFamily="2" charset="2"/>
              <a:buChar char="ü"/>
            </a:pPr>
            <a:r>
              <a:rPr lang="ko-KR" altLang="en-US" sz="1200" dirty="0" err="1">
                <a:latin typeface="+mn-ea"/>
              </a:rPr>
              <a:t>스몰톡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이펠</a:t>
            </a:r>
            <a:r>
              <a:rPr lang="en-US" altLang="ko-KR" sz="1200" dirty="0">
                <a:latin typeface="+mn-ea"/>
              </a:rPr>
              <a:t> (1970) : </a:t>
            </a:r>
            <a:r>
              <a:rPr lang="ko-KR" altLang="en-US" sz="1200" dirty="0">
                <a:latin typeface="+mn-ea"/>
              </a:rPr>
              <a:t>순수 객체 지향언어로 인정받음</a:t>
            </a:r>
            <a:r>
              <a:rPr lang="en-US" altLang="ko-KR" sz="1200" dirty="0">
                <a:latin typeface="+mn-ea"/>
              </a:rPr>
              <a:t>.  </a:t>
            </a:r>
            <a:r>
              <a:rPr lang="ko-KR" altLang="en-US" sz="1200" dirty="0">
                <a:latin typeface="+mn-ea"/>
              </a:rPr>
              <a:t>객체지향 개념은 </a:t>
            </a:r>
            <a:r>
              <a:rPr lang="en-US" altLang="ko-KR" sz="1200" dirty="0">
                <a:latin typeface="+mn-ea"/>
              </a:rPr>
              <a:t>70,80</a:t>
            </a:r>
            <a:r>
              <a:rPr lang="ko-KR" altLang="en-US" sz="1200" dirty="0">
                <a:latin typeface="+mn-ea"/>
              </a:rPr>
              <a:t>년대를 거치면서 프로그램 언어뿐만 아니라 프로그램 개발 방법론 분야 등 많은 분야에서 발전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범용적인 언어로 활용되지 못하였다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571500" lvl="3" indent="-342900">
              <a:lnSpc>
                <a:spcPts val="2000"/>
              </a:lnSpc>
              <a:spcBef>
                <a:spcPts val="800"/>
              </a:spcBef>
              <a:buClrTx/>
              <a:buFont typeface="Wingdings" pitchFamily="2" charset="2"/>
              <a:buChar char="ü"/>
            </a:pPr>
            <a:r>
              <a:rPr lang="en-US" altLang="ko-KR" sz="1200" dirty="0">
                <a:latin typeface="+mn-ea"/>
              </a:rPr>
              <a:t>C++ (1990) : C</a:t>
            </a:r>
            <a:r>
              <a:rPr lang="ko-KR" altLang="en-US" sz="1200" dirty="0">
                <a:latin typeface="+mn-ea"/>
              </a:rPr>
              <a:t>언어에 객체지향 개념을 도입한 </a:t>
            </a:r>
            <a:r>
              <a:rPr lang="en-US" altLang="ko-KR" sz="1200" dirty="0">
                <a:latin typeface="+mn-ea"/>
              </a:rPr>
              <a:t>C++</a:t>
            </a:r>
            <a:r>
              <a:rPr lang="ko-KR" altLang="en-US" sz="1200" dirty="0">
                <a:latin typeface="+mn-ea"/>
              </a:rPr>
              <a:t>이 객체 지향 언어로는 널리 이용되고 있다</a:t>
            </a:r>
            <a:r>
              <a:rPr lang="en-US" altLang="ko-KR" sz="1200" dirty="0">
                <a:latin typeface="+mn-ea"/>
              </a:rPr>
              <a:t>. 90</a:t>
            </a:r>
            <a:r>
              <a:rPr lang="ko-KR" altLang="en-US" sz="1200" dirty="0">
                <a:latin typeface="+mn-ea"/>
              </a:rPr>
              <a:t>년대에 들어 소프트웨어 품질 향상과 관련하여 대두된 객체지향 기술은 소프트웨어 부품화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소프트웨어 컴포넌트의 재사용을 주요 목적으로 함</a:t>
            </a:r>
            <a:r>
              <a:rPr lang="en-US" altLang="ko-KR" sz="1200" dirty="0">
                <a:latin typeface="+mn-ea"/>
              </a:rPr>
              <a:t>. C++</a:t>
            </a:r>
            <a:r>
              <a:rPr lang="ko-KR" altLang="en-US" sz="1200" dirty="0">
                <a:latin typeface="+mn-ea"/>
              </a:rPr>
              <a:t>을 기반으로 자바가 등장함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400" b="0" dirty="0" smtClean="0">
              <a:latin typeface="+mn-ea"/>
            </a:endParaRP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smtClean="0">
                <a:latin typeface="+mn-ea"/>
              </a:rPr>
              <a:t>절차지향 언어와 객체지향 언어</a:t>
            </a:r>
            <a:endParaRPr lang="en-US" altLang="ko-KR" sz="1400" dirty="0" smtClean="0">
              <a:latin typeface="+mn-ea"/>
            </a:endParaRPr>
          </a:p>
          <a:p>
            <a:pPr marL="800100" lvl="4" indent="-342900">
              <a:lnSpc>
                <a:spcPts val="2000"/>
              </a:lnSpc>
              <a:spcBef>
                <a:spcPts val="800"/>
              </a:spcBef>
              <a:buClrTx/>
              <a:buFont typeface="Wingdings" pitchFamily="2" charset="2"/>
              <a:buChar char="ü"/>
            </a:pPr>
            <a:r>
              <a:rPr lang="ko-KR" altLang="en-US" sz="1200" dirty="0">
                <a:latin typeface="+mn-ea"/>
              </a:rPr>
              <a:t>절차지향 언어는 공유된 데이터와 문제 해결 절차를 중시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객체지향 언어는 프로그램을 객체들의 집합으로 보며 이러한 객체들이 프로그램의 중심이 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4" indent="-342900">
              <a:lnSpc>
                <a:spcPts val="2000"/>
              </a:lnSpc>
              <a:spcBef>
                <a:spcPts val="800"/>
              </a:spcBef>
              <a:buClrTx/>
              <a:buFont typeface="Wingdings" pitchFamily="2" charset="2"/>
              <a:buChar char="ü"/>
            </a:pPr>
            <a:r>
              <a:rPr lang="ko-KR" altLang="en-US" sz="1200" dirty="0">
                <a:latin typeface="+mn-ea"/>
              </a:rPr>
              <a:t>객체지향 언어는 절차지향 프로그래밍의 한계성을 극복</a:t>
            </a:r>
            <a:endParaRPr lang="en-US" altLang="ko-KR" sz="1200" dirty="0">
              <a:latin typeface="+mn-ea"/>
            </a:endParaRPr>
          </a:p>
          <a:p>
            <a:pPr marL="950976" lvl="6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100" dirty="0">
                <a:latin typeface="+mn-ea"/>
              </a:rPr>
              <a:t>구조체에서는 속성인 멤버 변수만 지정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행위에 대해서는 함수로 구현하여 프로그램의 길이가 길어지고 </a:t>
            </a:r>
            <a:r>
              <a:rPr lang="ko-KR" altLang="en-US" sz="1100" dirty="0" err="1">
                <a:latin typeface="+mn-ea"/>
              </a:rPr>
              <a:t>재사용성이</a:t>
            </a:r>
            <a:r>
              <a:rPr lang="ko-KR" altLang="en-US" sz="1100" dirty="0">
                <a:latin typeface="+mn-ea"/>
              </a:rPr>
              <a:t> 거의 없으며 코드가 간결하지 못하다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200" dirty="0" smtClean="0">
              <a:latin typeface="+mn-ea"/>
            </a:endParaRP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smtClean="0">
                <a:latin typeface="+mn-ea"/>
              </a:rPr>
              <a:t>객체</a:t>
            </a:r>
            <a:endParaRPr lang="en-US" altLang="ko-KR" sz="1400" dirty="0" smtClean="0">
              <a:latin typeface="+mn-ea"/>
            </a:endParaRPr>
          </a:p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</a:rPr>
              <a:t>사람들이 의미를 부여하고 분류하는 논리적 단위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err="1" smtClean="0">
                <a:latin typeface="+mn-ea"/>
              </a:rPr>
              <a:t>실세계에</a:t>
            </a:r>
            <a:r>
              <a:rPr lang="ko-KR" altLang="en-US" sz="1200" dirty="0" smtClean="0">
                <a:latin typeface="+mn-ea"/>
              </a:rPr>
              <a:t> 존재하는 명사로서의 성질을 갖춘 모든 것</a:t>
            </a:r>
            <a:endParaRPr lang="en-US" altLang="ko-KR" sz="1200" dirty="0">
              <a:latin typeface="+mn-ea"/>
            </a:endParaRPr>
          </a:p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</a:rPr>
              <a:t>실제 프로그램에서 필요한 특성을 중심으로 모델링</a:t>
            </a:r>
            <a:endParaRPr lang="en-US" altLang="ko-KR" sz="1200" dirty="0" smtClean="0">
              <a:latin typeface="+mn-ea"/>
            </a:endParaRPr>
          </a:p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endParaRPr lang="en-US" altLang="ko-KR" sz="1200" dirty="0" smtClean="0">
              <a:latin typeface="+mn-ea"/>
            </a:endParaRP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endParaRPr lang="en-US" altLang="ko-KR" sz="1400" dirty="0" smtClean="0">
              <a:latin typeface="+mn-ea"/>
            </a:endParaRP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smtClean="0">
                <a:latin typeface="+mn-ea"/>
              </a:rPr>
              <a:t>클래</a:t>
            </a:r>
            <a:r>
              <a:rPr lang="ko-KR" altLang="en-US" sz="1400" dirty="0">
                <a:latin typeface="+mn-ea"/>
              </a:rPr>
              <a:t>스</a:t>
            </a:r>
            <a:endParaRPr lang="en-US" altLang="ko-KR" sz="1400" dirty="0" smtClean="0">
              <a:latin typeface="+mn-ea"/>
            </a:endParaRPr>
          </a:p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</a:rPr>
              <a:t>객체를 프로그래밍 언어로 정의한 것</a:t>
            </a:r>
            <a:endParaRPr lang="en-US" altLang="ko-KR" sz="1200" dirty="0" smtClean="0">
              <a:latin typeface="+mn-ea"/>
            </a:endParaRPr>
          </a:p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</a:rPr>
              <a:t>동일한 속성과 </a:t>
            </a:r>
            <a:r>
              <a:rPr lang="ko-KR" altLang="en-US" sz="1200" dirty="0" err="1" smtClean="0">
                <a:latin typeface="+mn-ea"/>
              </a:rPr>
              <a:t>메서드를</a:t>
            </a:r>
            <a:r>
              <a:rPr lang="ko-KR" altLang="en-US" sz="1200" dirty="0" smtClean="0">
                <a:latin typeface="+mn-ea"/>
              </a:rPr>
              <a:t> 가진 여러 개의 </a:t>
            </a:r>
            <a:r>
              <a:rPr lang="ko-KR" altLang="en-US" sz="1200" dirty="0" err="1" smtClean="0">
                <a:latin typeface="+mn-ea"/>
              </a:rPr>
              <a:t>인스턴스</a:t>
            </a:r>
            <a:r>
              <a:rPr lang="ko-KR" altLang="en-US" sz="1200" dirty="0" smtClean="0">
                <a:latin typeface="+mn-ea"/>
              </a:rPr>
              <a:t> 객체를 생성하는 형판</a:t>
            </a:r>
            <a:endParaRPr lang="en-US" altLang="ko-KR" sz="1100" dirty="0" smtClean="0"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817865"/>
              </p:ext>
            </p:extLst>
          </p:nvPr>
        </p:nvGraphicFramePr>
        <p:xfrm>
          <a:off x="764704" y="6609184"/>
          <a:ext cx="5184576" cy="548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592288"/>
                <a:gridCol w="2592288"/>
              </a:tblGrid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속성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정적인 특성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메소드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 동적인 특성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가격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색상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. . 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달리다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먹다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정지하다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 . 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56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4644" y="24264"/>
            <a:ext cx="6408712" cy="464240"/>
          </a:xfrm>
        </p:spPr>
        <p:txBody>
          <a:bodyPr/>
          <a:lstStyle/>
          <a:p>
            <a:r>
              <a:rPr lang="en-US" altLang="ko-KR" sz="1800" dirty="0" smtClean="0">
                <a:latin typeface="+mn-ea"/>
                <a:ea typeface="+mn-ea"/>
              </a:rPr>
              <a:t>10. </a:t>
            </a:r>
            <a:r>
              <a:rPr lang="ko-KR" altLang="en-US" sz="1800" dirty="0" smtClean="0">
                <a:latin typeface="+mn-ea"/>
                <a:ea typeface="+mn-ea"/>
              </a:rPr>
              <a:t>객체지향 프로그래밍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4644" y="416496"/>
            <a:ext cx="6408712" cy="3960440"/>
          </a:xfrm>
        </p:spPr>
        <p:txBody>
          <a:bodyPr>
            <a:noAutofit/>
          </a:bodyPr>
          <a:lstStyle/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en-US" altLang="ko-KR" sz="1400" b="0" dirty="0" smtClean="0">
                <a:latin typeface="+mn-ea"/>
              </a:rPr>
              <a:t>1</a:t>
            </a:r>
            <a:r>
              <a:rPr lang="ko-KR" altLang="en-US" sz="1400" b="0" dirty="0" smtClean="0">
                <a:latin typeface="+mn-ea"/>
              </a:rPr>
              <a:t>단계 </a:t>
            </a:r>
            <a:r>
              <a:rPr lang="en-US" altLang="ko-KR" sz="1400" b="0" dirty="0" smtClean="0">
                <a:latin typeface="+mn-ea"/>
              </a:rPr>
              <a:t>- </a:t>
            </a:r>
            <a:r>
              <a:rPr lang="ko-KR" altLang="en-US" sz="1400" b="0" dirty="0" err="1" smtClean="0">
                <a:latin typeface="+mn-ea"/>
              </a:rPr>
              <a:t>실세계</a:t>
            </a:r>
            <a:r>
              <a:rPr lang="ko-KR" altLang="en-US" sz="1400" b="0" dirty="0" smtClean="0">
                <a:latin typeface="+mn-ea"/>
              </a:rPr>
              <a:t> 객체 모델링</a:t>
            </a:r>
            <a:endParaRPr lang="en-US" altLang="ko-KR" sz="1400" b="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b="0" dirty="0" err="1" smtClean="0">
                <a:latin typeface="+mn-ea"/>
              </a:rPr>
              <a:t>실세계의</a:t>
            </a:r>
            <a:r>
              <a:rPr lang="ko-KR" altLang="en-US" sz="1200" b="0" dirty="0" smtClean="0">
                <a:latin typeface="+mn-ea"/>
              </a:rPr>
              <a:t> 존재하는 객체로부터 프로그램에 필요한 특성을 </a:t>
            </a:r>
            <a:r>
              <a:rPr lang="ko-KR" altLang="en-US" sz="1200" b="0" dirty="0" err="1" smtClean="0">
                <a:latin typeface="+mn-ea"/>
              </a:rPr>
              <a:t>모델링한다</a:t>
            </a:r>
            <a:r>
              <a:rPr lang="en-US" altLang="ko-KR" sz="1200" b="0" dirty="0" smtClean="0">
                <a:latin typeface="+mn-ea"/>
              </a:rPr>
              <a:t>. </a:t>
            </a: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b="0" dirty="0" smtClean="0">
                <a:latin typeface="+mn-ea"/>
              </a:rPr>
              <a:t>ex ) </a:t>
            </a:r>
            <a:r>
              <a:rPr lang="ko-KR" altLang="en-US" sz="1200" b="0" dirty="0" smtClean="0">
                <a:latin typeface="+mn-ea"/>
              </a:rPr>
              <a:t>자동차의 속성 </a:t>
            </a:r>
            <a:r>
              <a:rPr lang="en-US" altLang="ko-KR" sz="1200" b="0" dirty="0" smtClean="0">
                <a:latin typeface="+mn-ea"/>
              </a:rPr>
              <a:t>(</a:t>
            </a:r>
            <a:r>
              <a:rPr lang="ko-KR" altLang="en-US" sz="1200" b="0" dirty="0" smtClean="0">
                <a:latin typeface="+mn-ea"/>
              </a:rPr>
              <a:t>소유자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색상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제조회사</a:t>
            </a:r>
            <a:r>
              <a:rPr lang="en-US" altLang="ko-KR" sz="1200" dirty="0" smtClean="0">
                <a:latin typeface="+mn-ea"/>
              </a:rPr>
              <a:t>), 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달리다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정지하다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b="0" dirty="0" smtClean="0">
              <a:latin typeface="+mn-ea"/>
            </a:endParaRP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en-US" altLang="ko-KR" sz="1400" dirty="0" smtClean="0">
                <a:latin typeface="+mn-ea"/>
              </a:rPr>
              <a:t>2</a:t>
            </a:r>
            <a:r>
              <a:rPr lang="ko-KR" altLang="en-US" sz="1400" dirty="0" smtClean="0">
                <a:latin typeface="+mn-ea"/>
              </a:rPr>
              <a:t>단계 </a:t>
            </a:r>
            <a:r>
              <a:rPr lang="en-US" altLang="ko-KR" sz="1400" dirty="0" smtClean="0">
                <a:latin typeface="+mn-ea"/>
              </a:rPr>
              <a:t>- </a:t>
            </a:r>
            <a:r>
              <a:rPr lang="ko-KR" altLang="en-US" sz="1400" dirty="0" smtClean="0">
                <a:latin typeface="+mn-ea"/>
              </a:rPr>
              <a:t>클래스 정의</a:t>
            </a:r>
            <a:endParaRPr lang="en-US" altLang="ko-KR" sz="14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ex ) class car{</a:t>
            </a: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>
                <a:latin typeface="+mn-ea"/>
              </a:rPr>
              <a:t>	</a:t>
            </a:r>
            <a:r>
              <a:rPr lang="en-US" altLang="ko-KR" sz="1200" dirty="0" smtClean="0">
                <a:latin typeface="+mn-ea"/>
              </a:rPr>
              <a:t>        String </a:t>
            </a:r>
            <a:r>
              <a:rPr lang="ko-KR" altLang="en-US" sz="1200" dirty="0" smtClean="0">
                <a:latin typeface="+mn-ea"/>
              </a:rPr>
              <a:t>모델명</a:t>
            </a:r>
            <a:r>
              <a:rPr lang="en-US" altLang="ko-KR" sz="1200" dirty="0" smtClean="0">
                <a:latin typeface="+mn-ea"/>
              </a:rPr>
              <a:t>; String </a:t>
            </a:r>
            <a:r>
              <a:rPr lang="ko-KR" altLang="en-US" sz="1200" dirty="0" smtClean="0">
                <a:latin typeface="+mn-ea"/>
              </a:rPr>
              <a:t>제조사</a:t>
            </a:r>
            <a:r>
              <a:rPr lang="en-US" altLang="ko-KR" sz="1200" dirty="0" smtClean="0">
                <a:latin typeface="+mn-ea"/>
              </a:rPr>
              <a:t>; void speedup(); void stop();</a:t>
            </a: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	}</a:t>
            </a: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en-US" altLang="ko-KR" sz="1400" b="0" dirty="0" smtClean="0">
                <a:latin typeface="+mn-ea"/>
              </a:rPr>
              <a:t>3</a:t>
            </a:r>
            <a:r>
              <a:rPr lang="ko-KR" altLang="en-US" sz="1400" b="0" dirty="0" smtClean="0">
                <a:latin typeface="+mn-ea"/>
              </a:rPr>
              <a:t>단계 </a:t>
            </a:r>
            <a:r>
              <a:rPr lang="en-US" altLang="ko-KR" sz="1400" b="0" dirty="0" smtClean="0">
                <a:latin typeface="+mn-ea"/>
              </a:rPr>
              <a:t>- </a:t>
            </a:r>
            <a:r>
              <a:rPr lang="ko-KR" altLang="en-US" sz="1400" dirty="0" err="1" smtClean="0">
                <a:latin typeface="+mn-ea"/>
              </a:rPr>
              <a:t>인스턴스</a:t>
            </a:r>
            <a:r>
              <a:rPr lang="ko-KR" altLang="en-US" sz="1400" dirty="0" smtClean="0">
                <a:latin typeface="+mn-ea"/>
              </a:rPr>
              <a:t> 객체의 생성 및 사용</a:t>
            </a:r>
            <a:endParaRPr lang="en-US" altLang="ko-KR" sz="14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2</a:t>
            </a:r>
            <a:r>
              <a:rPr lang="ko-KR" altLang="en-US" sz="1200" dirty="0" smtClean="0">
                <a:latin typeface="+mn-ea"/>
              </a:rPr>
              <a:t>단계에서 정의한 클래스로부터 실제로 존재하는 객체를 메모리에 생성</a:t>
            </a:r>
            <a:r>
              <a:rPr lang="en-US" altLang="ko-KR" sz="1200" dirty="0" smtClean="0">
                <a:latin typeface="+mn-ea"/>
              </a:rPr>
              <a:t>,</a:t>
            </a:r>
            <a:r>
              <a:rPr lang="ko-KR" altLang="en-US" sz="1200" dirty="0" smtClean="0">
                <a:latin typeface="+mn-ea"/>
              </a:rPr>
              <a:t> 사용</a:t>
            </a:r>
            <a:endParaRPr lang="en-US" altLang="ko-KR" sz="12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ex ) car morning = new Car(“</a:t>
            </a:r>
            <a:r>
              <a:rPr lang="ko-KR" altLang="en-US" sz="1200" dirty="0" smtClean="0">
                <a:latin typeface="+mn-ea"/>
              </a:rPr>
              <a:t>모닝</a:t>
            </a:r>
            <a:r>
              <a:rPr lang="en-US" altLang="ko-KR" sz="1200" dirty="0" smtClean="0">
                <a:latin typeface="+mn-ea"/>
              </a:rPr>
              <a:t>”, “</a:t>
            </a:r>
            <a:r>
              <a:rPr lang="ko-KR" altLang="en-US" sz="1200" dirty="0" smtClean="0">
                <a:latin typeface="+mn-ea"/>
              </a:rPr>
              <a:t>현대</a:t>
            </a:r>
            <a:r>
              <a:rPr lang="en-US" altLang="ko-KR" sz="1200" dirty="0" smtClean="0">
                <a:latin typeface="+mn-ea"/>
              </a:rPr>
              <a:t>”);</a:t>
            </a: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    </a:t>
            </a:r>
            <a:r>
              <a:rPr lang="en-US" altLang="ko-KR" sz="1200" dirty="0" err="1" smtClean="0">
                <a:latin typeface="+mn-ea"/>
              </a:rPr>
              <a:t>morning.speedup</a:t>
            </a:r>
            <a:r>
              <a:rPr lang="en-US" altLang="ko-KR" sz="1200" dirty="0" smtClean="0">
                <a:latin typeface="+mn-ea"/>
              </a:rPr>
              <a:t>(); </a:t>
            </a:r>
            <a:r>
              <a:rPr lang="en-US" altLang="ko-KR" sz="1200" dirty="0" err="1" smtClean="0">
                <a:latin typeface="+mn-ea"/>
              </a:rPr>
              <a:t>morning.stop</a:t>
            </a:r>
            <a:r>
              <a:rPr lang="en-US" altLang="ko-KR" sz="1200" dirty="0" smtClean="0">
                <a:latin typeface="+mn-ea"/>
              </a:rPr>
              <a:t>();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19120" y="4376936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smtClean="0">
                <a:latin typeface="+mn-ea"/>
                <a:ea typeface="+mn-ea"/>
              </a:rPr>
              <a:t>11. </a:t>
            </a:r>
            <a:r>
              <a:rPr lang="ko-KR" altLang="en-US" sz="1800" dirty="0" smtClean="0">
                <a:latin typeface="+mn-ea"/>
                <a:ea typeface="+mn-ea"/>
              </a:rPr>
              <a:t>객체지향 언어의</a:t>
            </a:r>
            <a:r>
              <a:rPr lang="en-US" altLang="ko-KR" sz="1800" dirty="0" smtClean="0">
                <a:latin typeface="+mn-ea"/>
                <a:ea typeface="+mn-ea"/>
              </a:rPr>
              <a:t> </a:t>
            </a:r>
            <a:r>
              <a:rPr lang="ko-KR" altLang="en-US" sz="1800" dirty="0" smtClean="0">
                <a:latin typeface="+mn-ea"/>
                <a:ea typeface="+mn-ea"/>
              </a:rPr>
              <a:t>특징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4841176"/>
            <a:ext cx="6624736" cy="4936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smtClean="0">
                <a:latin typeface="+mn-ea"/>
              </a:rPr>
              <a:t>캡슐화 </a:t>
            </a:r>
            <a:r>
              <a:rPr lang="en-US" altLang="ko-KR" sz="1400" dirty="0" smtClean="0">
                <a:latin typeface="+mn-ea"/>
              </a:rPr>
              <a:t>( </a:t>
            </a:r>
            <a:r>
              <a:rPr lang="ko-KR" altLang="en-US" sz="1400" dirty="0" smtClean="0">
                <a:latin typeface="+mn-ea"/>
              </a:rPr>
              <a:t>자료 추상화 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pPr marL="228600" lvl="3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>
                <a:latin typeface="+mn-ea"/>
              </a:rPr>
              <a:t>객체는 속성과 속성을 처리하는 </a:t>
            </a:r>
            <a:r>
              <a:rPr lang="ko-KR" altLang="en-US" sz="1200" dirty="0" err="1">
                <a:latin typeface="+mn-ea"/>
              </a:rPr>
              <a:t>메소드가</a:t>
            </a:r>
            <a:r>
              <a:rPr lang="ko-KR" altLang="en-US" sz="1200" dirty="0">
                <a:latin typeface="+mn-ea"/>
              </a:rPr>
              <a:t> 캡슐화되어 있어서 </a:t>
            </a:r>
            <a:r>
              <a:rPr lang="ko-KR" altLang="en-US" sz="1200" b="1" dirty="0">
                <a:latin typeface="+mn-ea"/>
              </a:rPr>
              <a:t>객체를 사용하는 쪽에서는 캡슐화된 속성과 </a:t>
            </a:r>
            <a:r>
              <a:rPr lang="ko-KR" altLang="en-US" sz="1200" b="1" dirty="0" err="1">
                <a:latin typeface="+mn-ea"/>
              </a:rPr>
              <a:t>메소드가</a:t>
            </a:r>
            <a:r>
              <a:rPr lang="ko-KR" altLang="en-US" sz="1200" b="1" dirty="0">
                <a:latin typeface="+mn-ea"/>
              </a:rPr>
              <a:t> 실제 어떻게 처리되는지는 알 </a:t>
            </a:r>
            <a:r>
              <a:rPr lang="ko-KR" altLang="en-US" sz="1200" b="1" dirty="0" err="1">
                <a:latin typeface="+mn-ea"/>
              </a:rPr>
              <a:t>필요없이</a:t>
            </a:r>
            <a:r>
              <a:rPr lang="ko-KR" altLang="en-US" sz="1200" b="1" dirty="0">
                <a:latin typeface="+mn-ea"/>
              </a:rPr>
              <a:t> 단지 객체를 사용할 수 있는 인터페이스를 통해 사용만 하면 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객체 내부에서만 알고 있어야 하는 속성과 </a:t>
            </a:r>
            <a:r>
              <a:rPr lang="ko-KR" altLang="en-US" sz="1200" dirty="0" err="1">
                <a:latin typeface="+mn-ea"/>
              </a:rPr>
              <a:t>메소드는</a:t>
            </a:r>
            <a:r>
              <a:rPr lang="ko-KR" altLang="en-US" sz="1200" dirty="0">
                <a:latin typeface="+mn-ea"/>
              </a:rPr>
              <a:t> 외부에서 접근할 수 없게 해야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이를 위해 객체를 구성하는 속성과 </a:t>
            </a:r>
            <a:r>
              <a:rPr lang="ko-KR" altLang="en-US" sz="1200" dirty="0" err="1">
                <a:latin typeface="+mn-ea"/>
              </a:rPr>
              <a:t>메소드는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접근제어자를</a:t>
            </a:r>
            <a:r>
              <a:rPr lang="ko-KR" altLang="en-US" sz="1200" dirty="0">
                <a:latin typeface="+mn-ea"/>
              </a:rPr>
              <a:t> 사용하여 접근 권한을 분명히 표시하고 있으며 이를 통해 캡슐화와 정보 은닉이 가능해진다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400050" lvl="3" indent="-171450">
              <a:lnSpc>
                <a:spcPts val="2000"/>
              </a:lnSpc>
              <a:spcBef>
                <a:spcPts val="800"/>
              </a:spcBef>
              <a:buClrTx/>
              <a:buFont typeface="Wingdings"/>
              <a:buChar char="è"/>
            </a:pPr>
            <a:r>
              <a:rPr lang="ko-KR" altLang="en-US" sz="1200" dirty="0">
                <a:latin typeface="+mn-ea"/>
                <a:sym typeface="Wingdings" pitchFamily="2" charset="2"/>
              </a:rPr>
              <a:t>객체 내부에서만 알고 있어야 하는 정보는 숨기고 외부에 보여야 할 정보만을 표현함으로써 프로그램을 간단하게 만드는 것</a:t>
            </a:r>
            <a:r>
              <a:rPr lang="en-US" altLang="ko-KR" sz="1200" dirty="0">
                <a:latin typeface="+mn-ea"/>
                <a:sym typeface="Wingdings" pitchFamily="2" charset="2"/>
              </a:rPr>
              <a:t>. ( </a:t>
            </a:r>
            <a:r>
              <a:rPr lang="ko-KR" altLang="en-US" sz="1200" dirty="0">
                <a:latin typeface="+mn-ea"/>
                <a:sym typeface="Wingdings" pitchFamily="2" charset="2"/>
              </a:rPr>
              <a:t>서비스 코드 간결</a:t>
            </a:r>
            <a:r>
              <a:rPr lang="en-US" altLang="ko-KR" sz="1200" dirty="0">
                <a:latin typeface="+mn-ea"/>
                <a:sym typeface="Wingdings" pitchFamily="2" charset="2"/>
              </a:rPr>
              <a:t> </a:t>
            </a:r>
            <a:r>
              <a:rPr lang="en-US" altLang="ko-KR" sz="1200" dirty="0" smtClean="0">
                <a:latin typeface="+mn-ea"/>
                <a:sym typeface="Wingdings" pitchFamily="2" charset="2"/>
              </a:rPr>
              <a:t>)</a:t>
            </a:r>
            <a:endParaRPr lang="en-US" altLang="ko-KR" sz="1400" dirty="0" smtClean="0">
              <a:latin typeface="+mn-ea"/>
            </a:endParaRP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smtClean="0">
                <a:latin typeface="+mn-ea"/>
              </a:rPr>
              <a:t>상속</a:t>
            </a:r>
            <a:endParaRPr lang="en-US" altLang="ko-KR" sz="1400" dirty="0" smtClean="0">
              <a:latin typeface="+mn-ea"/>
            </a:endParaRPr>
          </a:p>
          <a:p>
            <a:pPr marL="228600" lvl="3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  <a:sym typeface="Wingdings" pitchFamily="2" charset="2"/>
              </a:rPr>
              <a:t>기존의 클래스에서 모든 속성과 </a:t>
            </a:r>
            <a:r>
              <a:rPr lang="ko-KR" altLang="en-US" sz="1200" dirty="0" err="1" smtClean="0">
                <a:latin typeface="+mn-ea"/>
                <a:sym typeface="Wingdings" pitchFamily="2" charset="2"/>
              </a:rPr>
              <a:t>메소드를</a:t>
            </a:r>
            <a:r>
              <a:rPr lang="ko-KR" altLang="en-US" sz="1200" dirty="0" smtClean="0">
                <a:latin typeface="+mn-ea"/>
                <a:sym typeface="Wingdings" pitchFamily="2" charset="2"/>
              </a:rPr>
              <a:t> 상속받고 더 필요한 속성과 </a:t>
            </a:r>
            <a:r>
              <a:rPr lang="ko-KR" altLang="en-US" sz="1200" dirty="0" err="1" smtClean="0">
                <a:latin typeface="+mn-ea"/>
                <a:sym typeface="Wingdings" pitchFamily="2" charset="2"/>
              </a:rPr>
              <a:t>메소드를</a:t>
            </a:r>
            <a:r>
              <a:rPr lang="ko-KR" altLang="en-US" sz="1200" dirty="0" smtClean="0">
                <a:latin typeface="+mn-ea"/>
                <a:sym typeface="Wingdings" pitchFamily="2" charset="2"/>
              </a:rPr>
              <a:t> 추가하여 새로운 클래스를 생성하는 것</a:t>
            </a:r>
            <a:endParaRPr lang="en-US" altLang="ko-KR" sz="1200" dirty="0" smtClean="0">
              <a:latin typeface="+mn-ea"/>
              <a:sym typeface="Wingdings" pitchFamily="2" charset="2"/>
            </a:endParaRPr>
          </a:p>
          <a:p>
            <a:pPr marL="228600" lvl="3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  <a:sym typeface="Wingdings" pitchFamily="2" charset="2"/>
              </a:rPr>
              <a:t></a:t>
            </a:r>
            <a:r>
              <a:rPr lang="ko-KR" altLang="en-US" sz="1200" dirty="0" smtClean="0">
                <a:latin typeface="+mn-ea"/>
                <a:sym typeface="Wingdings" pitchFamily="2" charset="2"/>
              </a:rPr>
              <a:t>새로운 클래스가 기존의 클래스의 자료와 연산을 이용할 수 있게 하는 기능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066372" y="8769423"/>
            <a:ext cx="1362628" cy="3459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자동차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68760" y="9431611"/>
            <a:ext cx="1362628" cy="3459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택</a:t>
            </a:r>
            <a:r>
              <a:rPr lang="ko-KR" altLang="en-US" sz="1200" dirty="0">
                <a:solidFill>
                  <a:schemeClr val="tx1"/>
                </a:solidFill>
              </a:rPr>
              <a:t>시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858460" y="9431611"/>
            <a:ext cx="1362628" cy="3459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버</a:t>
            </a:r>
            <a:r>
              <a:rPr lang="ko-KR" altLang="en-US" sz="1200" dirty="0">
                <a:solidFill>
                  <a:schemeClr val="tx1"/>
                </a:solidFill>
              </a:rPr>
              <a:t>스</a:t>
            </a:r>
          </a:p>
        </p:txBody>
      </p:sp>
      <p:cxnSp>
        <p:nvCxnSpPr>
          <p:cNvPr id="12" name="직선 화살표 연결선 11"/>
          <p:cNvCxnSpPr>
            <a:stCxn id="5" idx="2"/>
            <a:endCxn id="9" idx="0"/>
          </p:cNvCxnSpPr>
          <p:nvPr/>
        </p:nvCxnSpPr>
        <p:spPr>
          <a:xfrm flipH="1">
            <a:off x="1950074" y="9115348"/>
            <a:ext cx="797612" cy="316263"/>
          </a:xfrm>
          <a:prstGeom prst="straightConnector1">
            <a:avLst/>
          </a:prstGeom>
          <a:ln>
            <a:solidFill>
              <a:schemeClr val="accent2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5" idx="2"/>
          </p:cNvCxnSpPr>
          <p:nvPr/>
        </p:nvCxnSpPr>
        <p:spPr>
          <a:xfrm>
            <a:off x="2747686" y="9115348"/>
            <a:ext cx="792088" cy="316263"/>
          </a:xfrm>
          <a:prstGeom prst="straightConnector1">
            <a:avLst/>
          </a:prstGeom>
          <a:ln>
            <a:solidFill>
              <a:schemeClr val="accent2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69159" y="9042646"/>
            <a:ext cx="1434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택시 </a:t>
            </a:r>
            <a:r>
              <a:rPr lang="en-US" altLang="ko-KR" sz="1200" dirty="0" smtClean="0"/>
              <a:t>is a car</a:t>
            </a:r>
          </a:p>
          <a:p>
            <a:r>
              <a:rPr lang="ko-KR" altLang="en-US" sz="1200" dirty="0" smtClean="0"/>
              <a:t>버스 </a:t>
            </a:r>
            <a:r>
              <a:rPr lang="en-US" altLang="ko-KR" sz="1200" dirty="0" smtClean="0"/>
              <a:t>is a car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3217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128464"/>
            <a:ext cx="6624736" cy="4248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err="1" smtClean="0">
                <a:latin typeface="+mn-ea"/>
              </a:rPr>
              <a:t>다형성</a:t>
            </a:r>
            <a:endParaRPr lang="en-US" altLang="ko-KR" sz="14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b="1" dirty="0"/>
              <a:t>여러 개의 형태를 갖는다는 의미로 </a:t>
            </a:r>
            <a:r>
              <a:rPr lang="ko-KR" altLang="en-US" sz="1200" b="1" dirty="0" err="1"/>
              <a:t>메서드</a:t>
            </a:r>
            <a:r>
              <a:rPr lang="ko-KR" altLang="en-US" sz="1200" b="1" dirty="0"/>
              <a:t> 형태가 다양하거나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 동일한 이름의 </a:t>
            </a:r>
            <a:r>
              <a:rPr lang="ko-KR" altLang="en-US" sz="1200" b="1" dirty="0" err="1"/>
              <a:t>메서드가</a:t>
            </a:r>
            <a:r>
              <a:rPr lang="ko-KR" altLang="en-US" sz="1200" b="1" dirty="0"/>
              <a:t> 약간씩 다른 의미를 가질 수 있다는 것</a:t>
            </a:r>
            <a:r>
              <a:rPr lang="en-US" altLang="ko-KR" sz="1200" b="1" dirty="0"/>
              <a:t>.  </a:t>
            </a: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err="1"/>
              <a:t>메서드</a:t>
            </a:r>
            <a:r>
              <a:rPr lang="ko-KR" altLang="en-US" sz="1200" dirty="0"/>
              <a:t> 오버로딩 → 하나의 클래스에서 동일한 이름의 </a:t>
            </a:r>
            <a:r>
              <a:rPr lang="ko-KR" altLang="en-US" sz="1200" dirty="0" err="1"/>
              <a:t>메소드가</a:t>
            </a:r>
            <a:r>
              <a:rPr lang="ko-KR" altLang="en-US" sz="1200" dirty="0"/>
              <a:t> 매개 변수의 개수나 타입을 달리해서 여러 가지 형태로 존재하는 것</a:t>
            </a:r>
            <a:endParaRPr lang="en-US" altLang="ko-KR" sz="1200" dirty="0"/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err="1"/>
              <a:t>메서드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오버라이딩</a:t>
            </a:r>
            <a:r>
              <a:rPr lang="ko-KR" altLang="en-US" sz="1200" dirty="0"/>
              <a:t> → 상속 관계에 있는 하위 클래스가 상위 클래스의 </a:t>
            </a:r>
            <a:r>
              <a:rPr lang="ko-KR" altLang="en-US" sz="1200" dirty="0" err="1"/>
              <a:t>메서드를</a:t>
            </a:r>
            <a:r>
              <a:rPr lang="ko-KR" altLang="en-US" sz="1200" dirty="0"/>
              <a:t> 재정의 하는 </a:t>
            </a:r>
            <a:r>
              <a:rPr lang="ko-KR" altLang="en-US" sz="1200" dirty="0" smtClean="0"/>
              <a:t>것</a:t>
            </a:r>
            <a:endParaRPr lang="en-US" altLang="ko-KR" sz="1400" dirty="0" smtClean="0">
              <a:latin typeface="+mn-ea"/>
            </a:endParaRP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ko-KR" altLang="en-US" sz="1400" dirty="0" smtClean="0">
                <a:latin typeface="+mn-ea"/>
              </a:rPr>
              <a:t>메시지</a:t>
            </a:r>
            <a:endParaRPr lang="en-US" altLang="ko-KR" sz="1400" dirty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err="1" smtClean="0">
                <a:latin typeface="+mn-ea"/>
              </a:rPr>
              <a:t>인스턴스</a:t>
            </a:r>
            <a:r>
              <a:rPr lang="ko-KR" altLang="en-US" sz="1200" dirty="0" smtClean="0">
                <a:latin typeface="+mn-ea"/>
              </a:rPr>
              <a:t> 객체 간에 서로 통신하는 방법으로 </a:t>
            </a:r>
            <a:r>
              <a:rPr lang="ko-KR" altLang="en-US" sz="1200" dirty="0" err="1" smtClean="0">
                <a:latin typeface="+mn-ea"/>
              </a:rPr>
              <a:t>인스턴스</a:t>
            </a:r>
            <a:r>
              <a:rPr lang="ko-KR" altLang="en-US" sz="1200" dirty="0" smtClean="0">
                <a:latin typeface="+mn-ea"/>
              </a:rPr>
              <a:t> 객체들은 메시지를 주고받으면서 일을 수행</a:t>
            </a:r>
            <a:r>
              <a:rPr lang="en-US" altLang="ko-KR" sz="1200" dirty="0" smtClean="0">
                <a:latin typeface="+mn-ea"/>
              </a:rPr>
              <a:t>.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224" y="3512840"/>
            <a:ext cx="720000" cy="720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38" y="3512840"/>
            <a:ext cx="720000" cy="720000"/>
          </a:xfrm>
          <a:prstGeom prst="rect">
            <a:avLst/>
          </a:prstGeom>
        </p:spPr>
      </p:pic>
      <p:cxnSp>
        <p:nvCxnSpPr>
          <p:cNvPr id="18" name="직선 화살표 연결선 17"/>
          <p:cNvCxnSpPr>
            <a:stCxn id="14" idx="3"/>
            <a:endCxn id="13" idx="1"/>
          </p:cNvCxnSpPr>
          <p:nvPr/>
        </p:nvCxnSpPr>
        <p:spPr>
          <a:xfrm>
            <a:off x="2329038" y="3872840"/>
            <a:ext cx="239618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76943" y="4410720"/>
            <a:ext cx="7841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사람 객체</a:t>
            </a:r>
            <a:endParaRPr lang="ko-KR" altLang="en-US" sz="1100"/>
          </a:p>
        </p:txBody>
      </p:sp>
      <p:sp>
        <p:nvSpPr>
          <p:cNvPr id="21" name="TextBox 20"/>
          <p:cNvSpPr txBox="1"/>
          <p:nvPr/>
        </p:nvSpPr>
        <p:spPr>
          <a:xfrm>
            <a:off x="4725224" y="4432320"/>
            <a:ext cx="7841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음</a:t>
            </a:r>
            <a:r>
              <a:rPr lang="ko-KR" altLang="en-US" sz="1100"/>
              <a:t>식</a:t>
            </a:r>
            <a:r>
              <a:rPr lang="ko-KR" altLang="en-US" sz="1100" smtClean="0"/>
              <a:t> 객체</a:t>
            </a:r>
            <a:endParaRPr lang="ko-KR" altLang="en-US" sz="1100"/>
          </a:p>
        </p:txBody>
      </p:sp>
      <p:sp>
        <p:nvSpPr>
          <p:cNvPr id="22" name="TextBox 21"/>
          <p:cNvSpPr txBox="1"/>
          <p:nvPr/>
        </p:nvSpPr>
        <p:spPr>
          <a:xfrm>
            <a:off x="2329038" y="3533170"/>
            <a:ext cx="2324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음식 객체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먹다</a:t>
            </a:r>
            <a:r>
              <a:rPr lang="en-US" altLang="ko-KR" sz="1200" dirty="0" smtClean="0"/>
              <a:t>( )</a:t>
            </a:r>
            <a:endParaRPr lang="ko-KR" altLang="en-US" sz="1200" dirty="0"/>
          </a:p>
        </p:txBody>
      </p:sp>
      <p:sp>
        <p:nvSpPr>
          <p:cNvPr id="23" name="제목 1"/>
          <p:cNvSpPr>
            <a:spLocks noGrp="1"/>
          </p:cNvSpPr>
          <p:nvPr>
            <p:ph type="title"/>
          </p:nvPr>
        </p:nvSpPr>
        <p:spPr>
          <a:xfrm>
            <a:off x="224644" y="4632776"/>
            <a:ext cx="6408712" cy="464240"/>
          </a:xfrm>
        </p:spPr>
        <p:txBody>
          <a:bodyPr/>
          <a:lstStyle/>
          <a:p>
            <a:r>
              <a:rPr lang="en-US" altLang="ko-KR" sz="1800" dirty="0" smtClean="0">
                <a:latin typeface="+mn-ea"/>
                <a:ea typeface="+mn-ea"/>
              </a:rPr>
              <a:t>12. </a:t>
            </a:r>
            <a:r>
              <a:rPr lang="ko-KR" altLang="en-US" sz="1800" dirty="0" smtClean="0">
                <a:latin typeface="+mn-ea"/>
                <a:ea typeface="+mn-ea"/>
              </a:rPr>
              <a:t>클래</a:t>
            </a:r>
            <a:r>
              <a:rPr lang="ko-KR" altLang="en-US" sz="1800" dirty="0">
                <a:latin typeface="+mn-ea"/>
                <a:ea typeface="+mn-ea"/>
              </a:rPr>
              <a:t>스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24" name="내용 개체 틀 2"/>
          <p:cNvSpPr txBox="1">
            <a:spLocks/>
          </p:cNvSpPr>
          <p:nvPr/>
        </p:nvSpPr>
        <p:spPr>
          <a:xfrm>
            <a:off x="116632" y="7041232"/>
            <a:ext cx="6624736" cy="27363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400" dirty="0" smtClean="0">
                <a:latin typeface="+mn-ea"/>
              </a:rPr>
              <a:t>+ </a:t>
            </a:r>
            <a:r>
              <a:rPr lang="ko-KR" altLang="en-US" sz="1400" dirty="0" smtClean="0">
                <a:latin typeface="+mn-ea"/>
              </a:rPr>
              <a:t>자바의 최상위 클래스 </a:t>
            </a:r>
            <a:r>
              <a:rPr lang="en-US" altLang="ko-KR" sz="1400" dirty="0" smtClean="0">
                <a:latin typeface="+mn-ea"/>
              </a:rPr>
              <a:t>Object</a:t>
            </a: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400" dirty="0" smtClean="0">
                <a:latin typeface="+mn-ea"/>
              </a:rPr>
              <a:t>       </a:t>
            </a:r>
            <a:r>
              <a:rPr lang="ko-KR" altLang="en-US" sz="1200" dirty="0" err="1" smtClean="0">
                <a:latin typeface="+mn-ea"/>
              </a:rPr>
              <a:t>인스턴스를</a:t>
            </a:r>
            <a:r>
              <a:rPr lang="ko-KR" altLang="en-US" sz="1200" dirty="0" smtClean="0">
                <a:latin typeface="+mn-ea"/>
              </a:rPr>
              <a:t> 만들어서 사용할 경우 선언하지 않은 </a:t>
            </a:r>
            <a:r>
              <a:rPr lang="ko-KR" altLang="en-US" sz="1200" dirty="0" err="1" smtClean="0">
                <a:latin typeface="+mn-ea"/>
              </a:rPr>
              <a:t>메서드나</a:t>
            </a:r>
            <a:r>
              <a:rPr lang="ko-KR" altLang="en-US" sz="1200" dirty="0" smtClean="0">
                <a:latin typeface="+mn-ea"/>
              </a:rPr>
              <a:t> 속성이 코드 힌트로 뜬다</a:t>
            </a:r>
            <a:r>
              <a:rPr lang="en-US" altLang="ko-KR" sz="1200" dirty="0" smtClean="0">
                <a:latin typeface="+mn-ea"/>
              </a:rPr>
              <a:t>?</a:t>
            </a: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        1.  Object</a:t>
            </a:r>
            <a:r>
              <a:rPr lang="ko-KR" altLang="en-US" sz="1200" dirty="0" smtClean="0">
                <a:latin typeface="+mn-ea"/>
              </a:rPr>
              <a:t>는 자바의 최상위 클래스로서 사용자 클래스는 모두 </a:t>
            </a:r>
            <a:r>
              <a:rPr lang="en-US" altLang="ko-KR" sz="1200" dirty="0" smtClean="0">
                <a:latin typeface="+mn-ea"/>
              </a:rPr>
              <a:t>Object</a:t>
            </a:r>
            <a:r>
              <a:rPr lang="ko-KR" altLang="en-US" sz="1200" dirty="0" smtClean="0">
                <a:latin typeface="+mn-ea"/>
              </a:rPr>
              <a:t>를 상속한다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      2.  </a:t>
            </a:r>
            <a:r>
              <a:rPr lang="ko-KR" altLang="en-US" sz="1200" dirty="0" smtClean="0">
                <a:latin typeface="+mn-ea"/>
              </a:rPr>
              <a:t>몇 가지 </a:t>
            </a:r>
            <a:r>
              <a:rPr lang="en-US" altLang="ko-KR" sz="1200" dirty="0" smtClean="0">
                <a:latin typeface="+mn-ea"/>
              </a:rPr>
              <a:t>Object</a:t>
            </a:r>
            <a:r>
              <a:rPr lang="ko-KR" altLang="en-US" sz="1200" dirty="0" smtClean="0">
                <a:latin typeface="+mn-ea"/>
              </a:rPr>
              <a:t>의 </a:t>
            </a:r>
            <a:r>
              <a:rPr lang="ko-KR" altLang="en-US" sz="1200" dirty="0" err="1" smtClean="0">
                <a:latin typeface="+mn-ea"/>
              </a:rPr>
              <a:t>메서드는</a:t>
            </a:r>
            <a:r>
              <a:rPr lang="ko-KR" altLang="en-US" sz="1200" dirty="0" smtClean="0">
                <a:latin typeface="+mn-ea"/>
              </a:rPr>
              <a:t> 클래스 생성시 </a:t>
            </a:r>
            <a:r>
              <a:rPr lang="ko-KR" altLang="en-US" sz="1200" dirty="0" err="1" smtClean="0">
                <a:latin typeface="+mn-ea"/>
              </a:rPr>
              <a:t>오버라이딩</a:t>
            </a:r>
            <a:r>
              <a:rPr lang="ko-KR" altLang="en-US" sz="1200" dirty="0" smtClean="0">
                <a:latin typeface="+mn-ea"/>
              </a:rPr>
              <a:t> 해서 사용한다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	equals( )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내용 비교</a:t>
            </a:r>
            <a:endParaRPr lang="en-US" altLang="ko-KR" sz="1200" dirty="0" smtClean="0">
              <a:latin typeface="+mn-ea"/>
            </a:endParaRP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>
                <a:latin typeface="+mn-ea"/>
              </a:rPr>
              <a:t>	</a:t>
            </a:r>
            <a:r>
              <a:rPr lang="en-US" altLang="ko-KR" sz="1200" dirty="0" err="1" smtClean="0">
                <a:latin typeface="+mn-ea"/>
              </a:rPr>
              <a:t>toString</a:t>
            </a:r>
            <a:r>
              <a:rPr lang="en-US" altLang="ko-KR" sz="1200" dirty="0" smtClean="0">
                <a:latin typeface="+mn-ea"/>
              </a:rPr>
              <a:t>( )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객체의 클래스 이름과 메모리 참조 내용을 문자열로 </a:t>
            </a:r>
            <a:r>
              <a:rPr lang="ko-KR" altLang="en-US" sz="1200" dirty="0" err="1" smtClean="0">
                <a:latin typeface="+mn-ea"/>
              </a:rPr>
              <a:t>리턴하며</a:t>
            </a:r>
            <a:r>
              <a:rPr lang="en-US" altLang="ko-KR" sz="1200" dirty="0" smtClean="0">
                <a:latin typeface="+mn-ea"/>
              </a:rPr>
              <a:t>, 		        print </a:t>
            </a:r>
            <a:r>
              <a:rPr lang="ko-KR" altLang="en-US" sz="1200" dirty="0" err="1" smtClean="0">
                <a:latin typeface="+mn-ea"/>
              </a:rPr>
              <a:t>메서드에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ko-KR" altLang="en-US" sz="1200" dirty="0" err="1" smtClean="0">
                <a:latin typeface="+mn-ea"/>
              </a:rPr>
              <a:t>참조형</a:t>
            </a:r>
            <a:r>
              <a:rPr lang="ko-KR" altLang="en-US" sz="1200" dirty="0" smtClean="0">
                <a:latin typeface="+mn-ea"/>
              </a:rPr>
              <a:t> 변수이름을 사용하면 자동 호출</a:t>
            </a:r>
            <a:endParaRPr lang="en-US" altLang="ko-KR" sz="1200" dirty="0" smtClean="0">
              <a:latin typeface="+mn-ea"/>
            </a:endParaRP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>
                <a:latin typeface="+mn-ea"/>
              </a:rPr>
              <a:t>	</a:t>
            </a:r>
            <a:r>
              <a:rPr lang="en-US" altLang="ko-KR" sz="1200" dirty="0" err="1" smtClean="0">
                <a:latin typeface="+mn-ea"/>
              </a:rPr>
              <a:t>colone</a:t>
            </a:r>
            <a:r>
              <a:rPr lang="en-US" altLang="ko-KR" sz="1200" dirty="0" smtClean="0">
                <a:latin typeface="+mn-ea"/>
              </a:rPr>
              <a:t>( )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객체의 복제에 이용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116632" y="5192648"/>
            <a:ext cx="1043895" cy="336416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클래스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927460" y="5192648"/>
            <a:ext cx="1322267" cy="336416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클래스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선언부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963504" y="5728072"/>
            <a:ext cx="1322267" cy="336416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클래스 멤버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/>
          <p:cNvCxnSpPr>
            <a:stCxn id="25" idx="3"/>
            <a:endCxn id="26" idx="1"/>
          </p:cNvCxnSpPr>
          <p:nvPr/>
        </p:nvCxnSpPr>
        <p:spPr>
          <a:xfrm>
            <a:off x="1160527" y="5360856"/>
            <a:ext cx="766933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endCxn id="27" idx="1"/>
          </p:cNvCxnSpPr>
          <p:nvPr/>
        </p:nvCxnSpPr>
        <p:spPr>
          <a:xfrm rot="16200000" flipH="1">
            <a:off x="1487048" y="5419824"/>
            <a:ext cx="533400" cy="419511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4097621" y="5194671"/>
            <a:ext cx="1322267" cy="336416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생성</a:t>
            </a:r>
            <a:r>
              <a:rPr lang="ko-KR" altLang="en-US" sz="1200" dirty="0" err="1">
                <a:solidFill>
                  <a:schemeClr val="tx1"/>
                </a:solidFill>
              </a:rPr>
              <a:t>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097621" y="5624696"/>
            <a:ext cx="1322267" cy="336416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멤버 변수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097621" y="6063600"/>
            <a:ext cx="1322267" cy="336416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메서</a:t>
            </a:r>
            <a:r>
              <a:rPr lang="ko-KR" altLang="en-US" sz="1200" dirty="0" err="1">
                <a:solidFill>
                  <a:schemeClr val="tx1"/>
                </a:solidFill>
              </a:rPr>
              <a:t>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4097621" y="6505808"/>
            <a:ext cx="1322267" cy="336416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내부 클래스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3" name="직선 연결선 42"/>
          <p:cNvCxnSpPr>
            <a:stCxn id="26" idx="3"/>
            <a:endCxn id="39" idx="1"/>
          </p:cNvCxnSpPr>
          <p:nvPr/>
        </p:nvCxnSpPr>
        <p:spPr>
          <a:xfrm>
            <a:off x="3249727" y="5360856"/>
            <a:ext cx="847894" cy="2023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endCxn id="42" idx="1"/>
          </p:cNvCxnSpPr>
          <p:nvPr/>
        </p:nvCxnSpPr>
        <p:spPr>
          <a:xfrm rot="16200000" flipH="1">
            <a:off x="3232297" y="5808691"/>
            <a:ext cx="1311137" cy="419511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3683834" y="5792904"/>
            <a:ext cx="42394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3683834" y="6231808"/>
            <a:ext cx="42394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자유형 62"/>
          <p:cNvSpPr/>
          <p:nvPr/>
        </p:nvSpPr>
        <p:spPr>
          <a:xfrm>
            <a:off x="5467317" y="5398120"/>
            <a:ext cx="325174" cy="1330960"/>
          </a:xfrm>
          <a:custGeom>
            <a:avLst/>
            <a:gdLst>
              <a:gd name="connsiteX0" fmla="*/ 0 w 325174"/>
              <a:gd name="connsiteY0" fmla="*/ 0 h 1330960"/>
              <a:gd name="connsiteX1" fmla="*/ 325120 w 325174"/>
              <a:gd name="connsiteY1" fmla="*/ 721360 h 1330960"/>
              <a:gd name="connsiteX2" fmla="*/ 20320 w 325174"/>
              <a:gd name="connsiteY2" fmla="*/ 1330960 h 133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174" h="1330960">
                <a:moveTo>
                  <a:pt x="0" y="0"/>
                </a:moveTo>
                <a:cubicBezTo>
                  <a:pt x="160866" y="249766"/>
                  <a:pt x="321733" y="499533"/>
                  <a:pt x="325120" y="721360"/>
                </a:cubicBezTo>
                <a:cubicBezTo>
                  <a:pt x="328507" y="943187"/>
                  <a:pt x="174413" y="1137073"/>
                  <a:pt x="20320" y="1330960"/>
                </a:cubicBezTo>
              </a:path>
            </a:pathLst>
          </a:cu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5877272" y="5817096"/>
            <a:ext cx="96051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필요에 따라</a:t>
            </a:r>
            <a:endParaRPr lang="en-US" altLang="ko-KR" sz="1100" dirty="0" smtClean="0"/>
          </a:p>
          <a:p>
            <a:r>
              <a:rPr lang="ko-KR" altLang="en-US" sz="1100" dirty="0" smtClean="0"/>
              <a:t>필요한 것만 </a:t>
            </a:r>
            <a:endParaRPr lang="en-US" altLang="ko-KR" sz="1100" dirty="0" smtClean="0"/>
          </a:p>
          <a:p>
            <a:r>
              <a:rPr lang="ko-KR" altLang="en-US" sz="1100" dirty="0" smtClean="0"/>
              <a:t>사용 가능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35692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560512"/>
            <a:ext cx="6624736" cy="2448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en-US" altLang="ko-KR" sz="1400" dirty="0" smtClean="0">
                <a:latin typeface="+mn-ea"/>
              </a:rPr>
              <a:t>1</a:t>
            </a:r>
            <a:r>
              <a:rPr lang="ko-KR" altLang="en-US" sz="1400" dirty="0" smtClean="0">
                <a:latin typeface="+mn-ea"/>
              </a:rPr>
              <a:t>단계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객체 </a:t>
            </a:r>
            <a:r>
              <a:rPr lang="ko-KR" altLang="en-US" sz="1400" dirty="0" err="1" smtClean="0">
                <a:latin typeface="+mn-ea"/>
              </a:rPr>
              <a:t>참조형</a:t>
            </a:r>
            <a:r>
              <a:rPr lang="ko-KR" altLang="en-US" sz="1400" dirty="0" smtClean="0">
                <a:latin typeface="+mn-ea"/>
              </a:rPr>
              <a:t> 변수 선언</a:t>
            </a:r>
            <a:endParaRPr lang="en-US" altLang="ko-KR" sz="14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Student </a:t>
            </a:r>
            <a:r>
              <a:rPr lang="en-US" altLang="ko-KR" sz="1200" dirty="0" err="1" smtClean="0">
                <a:latin typeface="+mn-ea"/>
              </a:rPr>
              <a:t>kim</a:t>
            </a:r>
            <a:r>
              <a:rPr lang="en-US" altLang="ko-KR" sz="1200" dirty="0" smtClean="0">
                <a:latin typeface="+mn-ea"/>
              </a:rPr>
              <a:t>;</a:t>
            </a: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en-US" altLang="ko-KR" sz="1400" dirty="0" smtClean="0">
                <a:latin typeface="+mn-ea"/>
              </a:rPr>
              <a:t>2</a:t>
            </a:r>
            <a:r>
              <a:rPr lang="ko-KR" altLang="en-US" sz="1400" dirty="0" smtClean="0">
                <a:latin typeface="+mn-ea"/>
              </a:rPr>
              <a:t>단계 </a:t>
            </a:r>
            <a:r>
              <a:rPr lang="en-US" altLang="ko-KR" sz="1400" dirty="0" smtClean="0">
                <a:latin typeface="+mn-ea"/>
              </a:rPr>
              <a:t>:  </a:t>
            </a:r>
            <a:r>
              <a:rPr lang="ko-KR" altLang="en-US" sz="1400" dirty="0" err="1" smtClean="0">
                <a:latin typeface="+mn-ea"/>
              </a:rPr>
              <a:t>인스턴스</a:t>
            </a:r>
            <a:r>
              <a:rPr lang="ko-KR" altLang="en-US" sz="1400" dirty="0" smtClean="0">
                <a:latin typeface="+mn-ea"/>
              </a:rPr>
              <a:t> 객체 생성</a:t>
            </a:r>
            <a:endParaRPr lang="en-US" altLang="ko-KR" sz="14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err="1">
                <a:latin typeface="+mn-ea"/>
              </a:rPr>
              <a:t>kim</a:t>
            </a:r>
            <a:r>
              <a:rPr lang="en-US" altLang="ko-KR" sz="1200" dirty="0">
                <a:latin typeface="+mn-ea"/>
              </a:rPr>
              <a:t> = new Student( </a:t>
            </a:r>
            <a:r>
              <a:rPr lang="en-US" altLang="ko-KR" sz="1200" dirty="0" smtClean="0">
                <a:latin typeface="+mn-ea"/>
              </a:rPr>
              <a:t>);</a:t>
            </a:r>
          </a:p>
          <a:p>
            <a:pPr marL="342900" lvl="2" indent="-342900">
              <a:lnSpc>
                <a:spcPts val="2000"/>
              </a:lnSpc>
              <a:spcBef>
                <a:spcPts val="800"/>
              </a:spcBef>
              <a:buClrTx/>
            </a:pPr>
            <a:r>
              <a:rPr lang="en-US" altLang="ko-KR" sz="1400" dirty="0" smtClean="0">
                <a:latin typeface="+mn-ea"/>
              </a:rPr>
              <a:t>1, 2</a:t>
            </a:r>
            <a:r>
              <a:rPr lang="ko-KR" altLang="en-US" sz="1400" dirty="0" smtClean="0">
                <a:latin typeface="+mn-ea"/>
              </a:rPr>
              <a:t>단계 같이</a:t>
            </a:r>
            <a:endParaRPr lang="en-US" altLang="ko-KR" sz="1400" dirty="0" smtClean="0">
              <a:latin typeface="+mn-ea"/>
            </a:endParaRPr>
          </a:p>
          <a:p>
            <a:pPr marL="694944" lvl="5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>
                <a:latin typeface="+mn-ea"/>
              </a:rPr>
              <a:t>Student </a:t>
            </a:r>
            <a:r>
              <a:rPr lang="en-US" altLang="ko-KR" sz="1200" dirty="0" err="1">
                <a:latin typeface="+mn-ea"/>
              </a:rPr>
              <a:t>kim</a:t>
            </a:r>
            <a:r>
              <a:rPr lang="en-US" altLang="ko-KR" sz="1200" dirty="0">
                <a:latin typeface="+mn-ea"/>
              </a:rPr>
              <a:t> = new Student( );</a:t>
            </a:r>
          </a:p>
          <a:p>
            <a:pPr marL="0" lvl="2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** new </a:t>
            </a:r>
            <a:r>
              <a:rPr lang="ko-KR" altLang="en-US" sz="1200" dirty="0" smtClean="0">
                <a:latin typeface="+mn-ea"/>
              </a:rPr>
              <a:t>연산자는 메모리를 할당하는 연산자 </a:t>
            </a:r>
            <a:r>
              <a:rPr lang="en-US" altLang="ko-KR" sz="1200" dirty="0" smtClean="0">
                <a:latin typeface="+mn-ea"/>
              </a:rPr>
              <a:t>**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8" name="제목 1"/>
          <p:cNvSpPr>
            <a:spLocks noGrp="1"/>
          </p:cNvSpPr>
          <p:nvPr>
            <p:ph type="title"/>
          </p:nvPr>
        </p:nvSpPr>
        <p:spPr>
          <a:xfrm>
            <a:off x="224644" y="96272"/>
            <a:ext cx="6408712" cy="464240"/>
          </a:xfrm>
        </p:spPr>
        <p:txBody>
          <a:bodyPr/>
          <a:lstStyle/>
          <a:p>
            <a:r>
              <a:rPr lang="ko-KR" altLang="en-US" sz="1800" dirty="0" smtClean="0">
                <a:latin typeface="+mn-ea"/>
                <a:ea typeface="+mn-ea"/>
              </a:rPr>
              <a:t>객체 생성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30" name="제목 1"/>
          <p:cNvSpPr txBox="1">
            <a:spLocks/>
          </p:cNvSpPr>
          <p:nvPr/>
        </p:nvSpPr>
        <p:spPr>
          <a:xfrm>
            <a:off x="219120" y="3048600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>
                <a:latin typeface="+mn-ea"/>
                <a:ea typeface="+mn-ea"/>
              </a:rPr>
              <a:t>멤버 변수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31" name="내용 개체 틀 2"/>
          <p:cNvSpPr txBox="1">
            <a:spLocks/>
          </p:cNvSpPr>
          <p:nvPr/>
        </p:nvSpPr>
        <p:spPr>
          <a:xfrm>
            <a:off x="116632" y="3584848"/>
            <a:ext cx="66247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</a:rPr>
              <a:t>클래스를 정의 할 때 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ko-KR" altLang="en-US" sz="1200" dirty="0" smtClean="0">
                <a:latin typeface="+mn-ea"/>
              </a:rPr>
              <a:t> 밖에 선언하는 변수</a:t>
            </a:r>
            <a:endParaRPr lang="en-US" altLang="ko-KR" sz="1200" dirty="0" smtClean="0">
              <a:latin typeface="+mn-ea"/>
            </a:endParaRPr>
          </a:p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ko-KR" altLang="en-US" sz="1200" dirty="0" smtClean="0">
                <a:latin typeface="+mn-ea"/>
              </a:rPr>
              <a:t>객체가 가질 수 있는 정적인 속성을 나타냄</a:t>
            </a:r>
            <a:endParaRPr lang="en-US" altLang="ko-KR" sz="1200" dirty="0" smtClean="0">
              <a:latin typeface="+mn-ea"/>
            </a:endParaRP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6437"/>
              </p:ext>
            </p:extLst>
          </p:nvPr>
        </p:nvGraphicFramePr>
        <p:xfrm>
          <a:off x="108187" y="4396310"/>
          <a:ext cx="6664549" cy="27169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293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8469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멤버변수의 접근제어자</a:t>
                      </a:r>
                      <a:endParaRPr lang="ko-KR" altLang="en-US" sz="12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사용범위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설명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75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클래스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하위클래스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동일패키지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모든클래스</a:t>
                      </a:r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0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 private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자신의 클래스 안에서만 사용 </a:t>
                      </a:r>
                      <a:r>
                        <a:rPr lang="ko-KR" altLang="en-US" sz="1200" dirty="0" smtClean="0"/>
                        <a:t>가능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en-US" altLang="ko-KR" sz="1200" baseline="0" dirty="0" smtClean="0"/>
                        <a:t>-&gt; </a:t>
                      </a:r>
                      <a:r>
                        <a:rPr lang="ko-KR" altLang="en-US" sz="1200" baseline="0" dirty="0" smtClean="0"/>
                        <a:t>캡슐화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88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 default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동일 패키지내의 클래스에서만 접근가능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88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 protected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동일 또는 하위 클래스에서만 접근가능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0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 public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모든 클래스에서 접근 가능 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3" name="내용 개체 틀 2"/>
          <p:cNvSpPr txBox="1">
            <a:spLocks/>
          </p:cNvSpPr>
          <p:nvPr/>
        </p:nvSpPr>
        <p:spPr>
          <a:xfrm>
            <a:off x="-387424" y="9345488"/>
            <a:ext cx="723128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4" indent="0">
              <a:lnSpc>
                <a:spcPts val="2000"/>
              </a:lnSpc>
              <a:spcBef>
                <a:spcPts val="800"/>
              </a:spcBef>
              <a:buClrTx/>
              <a:buNone/>
            </a:pPr>
            <a:r>
              <a:rPr lang="en-US" altLang="ko-KR" sz="1200" dirty="0" smtClean="0">
                <a:latin typeface="+mn-ea"/>
              </a:rPr>
              <a:t>final : </a:t>
            </a:r>
            <a:r>
              <a:rPr lang="ko-KR" altLang="en-US" sz="1200" dirty="0" smtClean="0">
                <a:latin typeface="+mn-ea"/>
              </a:rPr>
              <a:t>상수    </a:t>
            </a:r>
            <a:r>
              <a:rPr lang="en-US" altLang="ko-KR" sz="1200" dirty="0" smtClean="0">
                <a:latin typeface="+mn-ea"/>
              </a:rPr>
              <a:t>final 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재정의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불가능한 </a:t>
            </a:r>
            <a:r>
              <a:rPr lang="ko-KR" altLang="en-US" sz="1200" dirty="0" err="1" smtClean="0">
                <a:latin typeface="+mn-ea"/>
              </a:rPr>
              <a:t>메서드</a:t>
            </a: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   final </a:t>
            </a:r>
            <a:r>
              <a:rPr lang="ko-KR" altLang="en-US" sz="1200" dirty="0" smtClean="0">
                <a:latin typeface="+mn-ea"/>
              </a:rPr>
              <a:t>클래스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상속이 불가능한 클래스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34" name="내용 개체 틀 2"/>
          <p:cNvSpPr txBox="1">
            <a:spLocks/>
          </p:cNvSpPr>
          <p:nvPr/>
        </p:nvSpPr>
        <p:spPr>
          <a:xfrm>
            <a:off x="116632" y="7329263"/>
            <a:ext cx="6624736" cy="1800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200" b="0" dirty="0"/>
              <a:t>접근제어의 필요성 </a:t>
            </a:r>
            <a:endParaRPr lang="en-US" altLang="ko-KR" sz="1200" b="0" dirty="0"/>
          </a:p>
          <a:p>
            <a:pPr lvl="1">
              <a:lnSpc>
                <a:spcPct val="150000"/>
              </a:lnSpc>
            </a:pPr>
            <a:r>
              <a:rPr lang="en-US" altLang="ko-KR" sz="1200" dirty="0"/>
              <a:t> C</a:t>
            </a:r>
            <a:r>
              <a:rPr lang="ko-KR" altLang="en-US" sz="1200" dirty="0"/>
              <a:t>언어로 된 프로그램에서 전역변수가 변경된 경우 →</a:t>
            </a:r>
            <a:r>
              <a:rPr lang="en-US" altLang="ko-KR" sz="1200" dirty="0" smtClean="0"/>
              <a:t> </a:t>
            </a:r>
            <a:r>
              <a:rPr lang="ko-KR" altLang="en-US" sz="1200" dirty="0"/>
              <a:t>전역변수가 사용된 나머지 모든 프로그램이 변경되어야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→</a:t>
            </a:r>
            <a:r>
              <a:rPr lang="en-US" altLang="ko-KR" sz="1200" dirty="0" smtClean="0"/>
              <a:t> </a:t>
            </a:r>
            <a:r>
              <a:rPr lang="ko-KR" altLang="en-US" sz="1200" dirty="0"/>
              <a:t>일관된 수정이 어렵고 오류를 범하기 쉽다</a:t>
            </a:r>
            <a:r>
              <a:rPr lang="en-US" altLang="ko-KR" sz="12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1200" dirty="0"/>
              <a:t>자바와 같은 객체지향 언어의 경우</a:t>
            </a:r>
            <a:r>
              <a:rPr lang="en-US" altLang="ko-KR" sz="1200" dirty="0"/>
              <a:t>, </a:t>
            </a:r>
            <a:r>
              <a:rPr lang="ko-KR" altLang="en-US" sz="1200" dirty="0"/>
              <a:t>캡슐화 개념에 기초하여 객체의 상태를 나타내는 데이터는 그 객체의 </a:t>
            </a:r>
            <a:r>
              <a:rPr lang="ko-KR" altLang="en-US" sz="1200" dirty="0" err="1" smtClean="0"/>
              <a:t>메서드에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의해서만 변경되어야 한다</a:t>
            </a:r>
            <a:r>
              <a:rPr lang="en-US" altLang="ko-KR" sz="1200" dirty="0"/>
              <a:t>.  </a:t>
            </a:r>
            <a:r>
              <a:rPr lang="ko-KR" altLang="en-US" sz="1200" dirty="0"/>
              <a:t>다른 객체가 직접 접근하여 상태를 바꾸는 것은 불가능하거나 어렵게 하여야 한다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380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560512"/>
            <a:ext cx="6624736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/>
              <a:t>전역변수</a:t>
            </a:r>
            <a:r>
              <a:rPr lang="en-US" altLang="ko-KR" sz="1200" b="0" dirty="0"/>
              <a:t>(global object) </a:t>
            </a:r>
            <a:r>
              <a:rPr lang="ko-KR" altLang="en-US" sz="1200" b="0" dirty="0"/>
              <a:t>의 개념</a:t>
            </a:r>
            <a:endParaRPr lang="en-US" altLang="ko-KR" sz="1200" b="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/>
              <a:t>클래스가 </a:t>
            </a:r>
            <a:r>
              <a:rPr lang="ko-KR" altLang="en-US" sz="1200" b="0" dirty="0"/>
              <a:t>로딩되는 과정에서 기억공간이 한번만 확보 </a:t>
            </a:r>
            <a:endParaRPr lang="en-US" altLang="ko-KR" sz="1200" b="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/>
              <a:t>해당 </a:t>
            </a:r>
            <a:r>
              <a:rPr lang="ko-KR" altLang="en-US" sz="1200" b="0" dirty="0"/>
              <a:t>클래스의 모든 객체가 변수를 공유한다</a:t>
            </a:r>
            <a:r>
              <a:rPr lang="en-US" altLang="ko-KR" sz="1200" b="0" dirty="0"/>
              <a:t>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/>
              <a:t>객체들 </a:t>
            </a:r>
            <a:r>
              <a:rPr lang="ko-KR" altLang="en-US" sz="1200" b="0" dirty="0"/>
              <a:t>사이의 통신이나 공통되는 속성을 표현하는데 사용한다</a:t>
            </a:r>
            <a:r>
              <a:rPr lang="en-US" altLang="ko-KR" sz="1200" b="0" dirty="0"/>
              <a:t>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/>
              <a:t>일반 </a:t>
            </a:r>
            <a:r>
              <a:rPr lang="ko-KR" altLang="en-US" sz="1200" b="0" dirty="0"/>
              <a:t>변수가 객체이름으로 접근하는데 반해 클래스 변수는 클래스 이름으로 접근한다</a:t>
            </a:r>
            <a:r>
              <a:rPr lang="en-US" altLang="ko-KR" sz="1200" b="0" dirty="0"/>
              <a:t>. </a:t>
            </a:r>
            <a:r>
              <a:rPr lang="ko-KR" altLang="en-US" sz="1200" b="0" dirty="0" smtClean="0">
                <a:latin typeface="+mn-ea"/>
              </a:rPr>
              <a:t> </a:t>
            </a:r>
            <a:endParaRPr lang="en-US" altLang="ko-KR" sz="1200" b="0" dirty="0" smtClean="0">
              <a:latin typeface="+mn-ea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644" y="9627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>
                <a:latin typeface="+mn-ea"/>
                <a:ea typeface="+mn-ea"/>
              </a:rPr>
              <a:t>객체 생성 </a:t>
            </a:r>
            <a:r>
              <a:rPr lang="en-US" altLang="ko-KR" sz="1800" cap="none" dirty="0">
                <a:solidFill>
                  <a:prstClr val="black"/>
                </a:solidFill>
                <a:latin typeface="맑은 고딕"/>
                <a:ea typeface="맑은 고딕"/>
                <a:cs typeface="+mn-cs"/>
              </a:rPr>
              <a:t>static</a:t>
            </a:r>
            <a:r>
              <a:rPr lang="ko-KR" altLang="en-US" sz="1800" dirty="0" smtClean="0">
                <a:latin typeface="+mn-ea"/>
                <a:ea typeface="+mn-ea"/>
              </a:rPr>
              <a:t> </a:t>
            </a:r>
            <a:endParaRPr lang="ko-KR" altLang="en-US" sz="1800" dirty="0">
              <a:latin typeface="+mn-ea"/>
              <a:ea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21107"/>
              </p:ext>
            </p:extLst>
          </p:nvPr>
        </p:nvGraphicFramePr>
        <p:xfrm>
          <a:off x="224644" y="2105691"/>
          <a:ext cx="6261100" cy="126313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487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변수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생성시기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생성 위치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생성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개수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사용 방법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클래스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변수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클래스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로딩 시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객체 생성 이전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클래스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u="none" dirty="0" smtClean="0">
                          <a:solidFill>
                            <a:schemeClr val="tx1"/>
                          </a:solidFill>
                        </a:rPr>
                        <a:t>클래스 이름</a:t>
                      </a:r>
                      <a:r>
                        <a:rPr lang="en-US" altLang="ko-KR" sz="1200" u="none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200" u="none" dirty="0" smtClean="0">
                          <a:solidFill>
                            <a:schemeClr val="tx1"/>
                          </a:solidFill>
                        </a:rPr>
                        <a:t>클래스 변수이름</a:t>
                      </a:r>
                      <a:endParaRPr lang="en-US" altLang="ko-KR" sz="1200" u="none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u="none" dirty="0" smtClean="0">
                          <a:solidFill>
                            <a:schemeClr val="tx1"/>
                          </a:solidFill>
                        </a:rPr>
                        <a:t>객체 이름</a:t>
                      </a:r>
                      <a:r>
                        <a:rPr lang="en-US" altLang="ko-KR" sz="1200" u="none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200" u="none" dirty="0" smtClean="0">
                          <a:solidFill>
                            <a:schemeClr val="tx1"/>
                          </a:solidFill>
                        </a:rPr>
                        <a:t>클래스 변수 이름</a:t>
                      </a:r>
                      <a:endParaRPr lang="ko-KR" altLang="en-US" sz="12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16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객체 변수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객체 생성 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각 객체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객체 생성 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u="none" dirty="0" smtClean="0">
                          <a:solidFill>
                            <a:schemeClr val="tx1"/>
                          </a:solidFill>
                        </a:rPr>
                        <a:t>객체이름</a:t>
                      </a:r>
                      <a:r>
                        <a:rPr lang="en-US" altLang="ko-KR" sz="1200" u="none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200" u="none" dirty="0" smtClean="0">
                          <a:solidFill>
                            <a:schemeClr val="tx1"/>
                          </a:solidFill>
                        </a:rPr>
                        <a:t>객체변수이름</a:t>
                      </a:r>
                      <a:endParaRPr lang="en-US" altLang="ko-KR" sz="1200" u="none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" name="제목 1"/>
          <p:cNvSpPr txBox="1">
            <a:spLocks/>
          </p:cNvSpPr>
          <p:nvPr/>
        </p:nvSpPr>
        <p:spPr>
          <a:xfrm>
            <a:off x="219120" y="344083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smtClean="0">
                <a:latin typeface="+mn-ea"/>
                <a:ea typeface="+mn-ea"/>
              </a:rPr>
              <a:t>13. </a:t>
            </a:r>
            <a:r>
              <a:rPr lang="ko-KR" altLang="en-US" sz="1800" dirty="0" err="1" smtClean="0">
                <a:latin typeface="+mn-ea"/>
                <a:ea typeface="+mn-ea"/>
              </a:rPr>
              <a:t>생성자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16632" y="3872880"/>
            <a:ext cx="6624736" cy="5904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클래스로부터 객체를 생성할 때 객체의 초기화 과정을 담당하는 특수한 </a:t>
            </a:r>
            <a:r>
              <a:rPr lang="ko-KR" altLang="en-US" sz="1200" b="0" dirty="0" err="1" smtClean="0">
                <a:latin typeface="+mn-ea"/>
              </a:rPr>
              <a:t>메소드로</a:t>
            </a:r>
            <a:r>
              <a:rPr lang="ko-KR" altLang="en-US" sz="1200" b="0" dirty="0" smtClean="0">
                <a:latin typeface="+mn-ea"/>
              </a:rPr>
              <a:t> 객체가 생성될 때 무조건 수행된다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특징</a:t>
            </a:r>
            <a:endParaRPr lang="en-US" altLang="ko-KR" sz="1200" b="0" dirty="0" smtClean="0">
              <a:latin typeface="+mn-ea"/>
            </a:endParaRPr>
          </a:p>
          <a:p>
            <a:pPr marL="745236" lvl="4" indent="-228600">
              <a:buFont typeface="+mj-lt"/>
              <a:buAutoNum type="arabicPeriod"/>
            </a:pP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연산자와 함께 사용되며 객체 생성 시에 호출된다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5236" lvl="4" indent="-228600">
              <a:buFont typeface="+mj-lt"/>
              <a:buAutoNum type="arabicPeriod"/>
            </a:pPr>
            <a:r>
              <a:rPr lang="ko-KR" altLang="en-US" sz="1200" dirty="0">
                <a:latin typeface="+mn-ea"/>
              </a:rPr>
              <a:t>객체 생성 시에 객체의 멤버 변수를 초기화하는 일을 주로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5236" lvl="4" indent="-228600">
              <a:buFont typeface="+mj-lt"/>
              <a:buAutoNum type="arabicPeriod"/>
            </a:pPr>
            <a:r>
              <a:rPr lang="ko-KR" altLang="en-US" sz="1200" dirty="0">
                <a:latin typeface="+mn-ea"/>
              </a:rPr>
              <a:t>생성자의 이름은 클래스 이름과 동일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일반 적으로 첫 문자는 대문자이다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5236" lvl="4" indent="-228600">
              <a:buFont typeface="+mj-lt"/>
              <a:buAutoNum type="arabicPeriod"/>
            </a:pPr>
            <a:r>
              <a:rPr lang="en-US" altLang="ko-KR" sz="1200" dirty="0">
                <a:latin typeface="+mn-ea"/>
              </a:rPr>
              <a:t>return </a:t>
            </a:r>
            <a:r>
              <a:rPr lang="ko-KR" altLang="en-US" sz="1200" dirty="0">
                <a:latin typeface="+mn-ea"/>
              </a:rPr>
              <a:t>유형이 없다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5236" lvl="4" indent="-228600">
              <a:buFont typeface="+mj-lt"/>
              <a:buAutoNum type="arabicPeriod"/>
            </a:pPr>
            <a:r>
              <a:rPr lang="ko-KR" altLang="en-US" sz="1200" dirty="0">
                <a:latin typeface="+mn-ea"/>
              </a:rPr>
              <a:t>생성자가 없는 클래스는 자바 가상 </a:t>
            </a:r>
            <a:r>
              <a:rPr lang="ko-KR" altLang="en-US" sz="1200" dirty="0" err="1">
                <a:latin typeface="+mn-ea"/>
              </a:rPr>
              <a:t>머신이</a:t>
            </a:r>
            <a:r>
              <a:rPr lang="ko-KR" altLang="en-US" sz="1200" dirty="0">
                <a:latin typeface="+mn-ea"/>
              </a:rPr>
              <a:t> 자동으로 삽입하는 기본 </a:t>
            </a:r>
            <a:r>
              <a:rPr lang="ko-KR" altLang="en-US" sz="1200" dirty="0" err="1">
                <a:latin typeface="+mn-ea"/>
              </a:rPr>
              <a:t>생성자를</a:t>
            </a:r>
            <a:r>
              <a:rPr lang="ko-KR" altLang="en-US" sz="1200" dirty="0">
                <a:latin typeface="+mn-ea"/>
              </a:rPr>
              <a:t> 가짐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5236" lvl="4" indent="-228600">
              <a:buFont typeface="+mj-lt"/>
              <a:buAutoNum type="arabicPeriod"/>
            </a:pPr>
            <a:r>
              <a:rPr lang="ko-KR" altLang="en-US" sz="1200" dirty="0">
                <a:latin typeface="+mn-ea"/>
              </a:rPr>
              <a:t>사용자가 정의한 생성자가 있을 경우 자바 가상 </a:t>
            </a:r>
            <a:r>
              <a:rPr lang="ko-KR" altLang="en-US" sz="1200" dirty="0" err="1">
                <a:latin typeface="+mn-ea"/>
              </a:rPr>
              <a:t>머신이</a:t>
            </a:r>
            <a:r>
              <a:rPr lang="ko-KR" altLang="en-US" sz="1200" dirty="0">
                <a:latin typeface="+mn-ea"/>
              </a:rPr>
              <a:t> 삽입한 기본 </a:t>
            </a:r>
            <a:r>
              <a:rPr lang="ko-KR" altLang="en-US" sz="1200" dirty="0" err="1">
                <a:latin typeface="+mn-ea"/>
              </a:rPr>
              <a:t>생성자는</a:t>
            </a:r>
            <a:r>
              <a:rPr lang="ko-KR" altLang="en-US" sz="1200" dirty="0">
                <a:latin typeface="+mn-ea"/>
              </a:rPr>
              <a:t> 자동으로 없어짐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b="0" dirty="0" smtClean="0">
              <a:latin typeface="+mn-ea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smtClean="0">
                <a:latin typeface="+mn-ea"/>
              </a:rPr>
              <a:t>형식</a:t>
            </a:r>
            <a:endParaRPr lang="en-US" altLang="ko-KR" sz="1200" b="0" dirty="0" smtClean="0">
              <a:latin typeface="+mn-ea"/>
            </a:endParaRPr>
          </a:p>
          <a:p>
            <a:pPr marL="516636" lvl="4" indent="0">
              <a:buNone/>
            </a:pPr>
            <a:r>
              <a:rPr lang="en-US" altLang="ko-KR" sz="1200" dirty="0">
                <a:latin typeface="Helvetica" pitchFamily="34" charset="0"/>
              </a:rPr>
              <a:t>[</a:t>
            </a:r>
            <a:r>
              <a:rPr lang="ko-KR" altLang="en-US" sz="1200" dirty="0">
                <a:latin typeface="Helvetica" pitchFamily="34" charset="0"/>
              </a:rPr>
              <a:t>접근제어자</a:t>
            </a:r>
            <a:r>
              <a:rPr lang="en-US" altLang="ko-KR" sz="1200" dirty="0">
                <a:latin typeface="Helvetica" pitchFamily="34" charset="0"/>
              </a:rPr>
              <a:t>] </a:t>
            </a:r>
            <a:r>
              <a:rPr lang="ko-KR" altLang="en-US" sz="1200" dirty="0" err="1">
                <a:latin typeface="Helvetica" pitchFamily="34" charset="0"/>
              </a:rPr>
              <a:t>생성자</a:t>
            </a:r>
            <a:r>
              <a:rPr lang="ko-KR" altLang="en-US" sz="1200" dirty="0">
                <a:latin typeface="Helvetica" pitchFamily="34" charset="0"/>
              </a:rPr>
              <a:t> 이름 </a:t>
            </a:r>
            <a:r>
              <a:rPr lang="en-US" altLang="ko-KR" sz="1200" dirty="0">
                <a:latin typeface="Helvetica" pitchFamily="34" charset="0"/>
              </a:rPr>
              <a:t>(</a:t>
            </a:r>
            <a:r>
              <a:rPr lang="ko-KR" altLang="en-US" sz="1200" dirty="0">
                <a:latin typeface="Helvetica" pitchFamily="34" charset="0"/>
              </a:rPr>
              <a:t>매개변수</a:t>
            </a:r>
            <a:r>
              <a:rPr lang="en-US" altLang="ko-KR" sz="1200" dirty="0">
                <a:latin typeface="Helvetica" pitchFamily="34" charset="0"/>
              </a:rPr>
              <a:t>1, </a:t>
            </a:r>
            <a:r>
              <a:rPr lang="ko-KR" altLang="en-US" sz="1200" dirty="0">
                <a:latin typeface="Helvetica" pitchFamily="34" charset="0"/>
              </a:rPr>
              <a:t>매개변수</a:t>
            </a:r>
            <a:r>
              <a:rPr lang="en-US" altLang="ko-KR" sz="1200" dirty="0">
                <a:latin typeface="Helvetica" pitchFamily="34" charset="0"/>
              </a:rPr>
              <a:t>2</a:t>
            </a:r>
            <a:r>
              <a:rPr lang="en-US" altLang="ko-KR" sz="1200" dirty="0" smtClean="0">
                <a:latin typeface="Helvetica" pitchFamily="34" charset="0"/>
              </a:rPr>
              <a:t>,……)</a:t>
            </a:r>
            <a:endParaRPr lang="en-US" altLang="ko-KR" sz="1200" b="0" dirty="0" smtClean="0">
              <a:latin typeface="+mn-ea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err="1">
                <a:latin typeface="Helvetica" pitchFamily="34" charset="0"/>
              </a:rPr>
              <a:t>생성자</a:t>
            </a:r>
            <a:r>
              <a:rPr lang="ko-KR" altLang="en-US" sz="1200" b="0" dirty="0">
                <a:latin typeface="Helvetica" pitchFamily="34" charset="0"/>
              </a:rPr>
              <a:t> </a:t>
            </a:r>
            <a:r>
              <a:rPr lang="ko-KR" altLang="en-US" sz="1200" b="0" dirty="0" err="1">
                <a:latin typeface="Helvetica" pitchFamily="34" charset="0"/>
              </a:rPr>
              <a:t>메서드가</a:t>
            </a:r>
            <a:r>
              <a:rPr lang="ko-KR" altLang="en-US" sz="1200" b="0" dirty="0">
                <a:latin typeface="Helvetica" pitchFamily="34" charset="0"/>
              </a:rPr>
              <a:t> 없는 클래스 </a:t>
            </a:r>
            <a:r>
              <a:rPr lang="en-US" altLang="ko-KR" sz="1200" b="0" dirty="0">
                <a:latin typeface="Helvetica" pitchFamily="34" charset="0"/>
              </a:rPr>
              <a:t>: </a:t>
            </a:r>
            <a:r>
              <a:rPr lang="ko-KR" altLang="en-US" sz="1200" b="0" dirty="0" err="1">
                <a:latin typeface="Helvetica" pitchFamily="34" charset="0"/>
              </a:rPr>
              <a:t>생성자는</a:t>
            </a:r>
            <a:r>
              <a:rPr lang="ko-KR" altLang="en-US" sz="1200" b="0" dirty="0">
                <a:latin typeface="Helvetica" pitchFamily="34" charset="0"/>
              </a:rPr>
              <a:t> 객체 생성시 반드시 호출되어야 하는 </a:t>
            </a:r>
            <a:r>
              <a:rPr lang="ko-KR" altLang="en-US" sz="1200" b="0" dirty="0" err="1" smtClean="0">
                <a:latin typeface="Helvetica" pitchFamily="34" charset="0"/>
              </a:rPr>
              <a:t>메서드</a:t>
            </a:r>
            <a:r>
              <a:rPr lang="en-US" altLang="ko-KR" sz="1200" b="0" dirty="0" smtClean="0">
                <a:latin typeface="Helvetica" pitchFamily="34" charset="0"/>
              </a:rPr>
              <a:t>.  </a:t>
            </a:r>
            <a:r>
              <a:rPr lang="ko-KR" altLang="en-US" sz="1200" b="0" dirty="0">
                <a:latin typeface="Helvetica" pitchFamily="34" charset="0"/>
              </a:rPr>
              <a:t>그러나 반드시 </a:t>
            </a:r>
            <a:r>
              <a:rPr lang="ko-KR" altLang="en-US" sz="1200" b="0" dirty="0" err="1">
                <a:latin typeface="Helvetica" pitchFamily="34" charset="0"/>
              </a:rPr>
              <a:t>생성자</a:t>
            </a:r>
            <a:r>
              <a:rPr lang="ko-KR" altLang="en-US" sz="1200" b="0" dirty="0">
                <a:latin typeface="Helvetica" pitchFamily="34" charset="0"/>
              </a:rPr>
              <a:t> </a:t>
            </a:r>
            <a:r>
              <a:rPr lang="ko-KR" altLang="en-US" sz="1200" b="0" dirty="0" err="1">
                <a:latin typeface="Helvetica" pitchFamily="34" charset="0"/>
              </a:rPr>
              <a:t>메서드를</a:t>
            </a:r>
            <a:r>
              <a:rPr lang="ko-KR" altLang="en-US" sz="1200" b="0" dirty="0">
                <a:latin typeface="Helvetica" pitchFamily="34" charset="0"/>
              </a:rPr>
              <a:t> 갖고 있을 필요는 없다</a:t>
            </a:r>
            <a:r>
              <a:rPr lang="en-US" altLang="ko-KR" sz="1200" b="0" dirty="0">
                <a:latin typeface="Helvetica" pitchFamily="34" charset="0"/>
              </a:rPr>
              <a:t>. </a:t>
            </a:r>
            <a:r>
              <a:rPr lang="en-US" altLang="ko-KR" sz="1200" b="0" dirty="0" err="1" smtClean="0">
                <a:latin typeface="Helvetica" pitchFamily="34" charset="0"/>
              </a:rPr>
              <a:t>jvm</a:t>
            </a:r>
            <a:r>
              <a:rPr lang="ko-KR" altLang="en-US" sz="1200" b="0" dirty="0" smtClean="0">
                <a:latin typeface="Helvetica" pitchFamily="34" charset="0"/>
              </a:rPr>
              <a:t>이 자동으로 </a:t>
            </a:r>
            <a:r>
              <a:rPr lang="ko-KR" altLang="en-US" sz="1200" b="0" dirty="0" err="1" smtClean="0">
                <a:latin typeface="Helvetica" pitchFamily="34" charset="0"/>
              </a:rPr>
              <a:t>생성자를</a:t>
            </a:r>
            <a:r>
              <a:rPr lang="ko-KR" altLang="en-US" sz="1200" b="0" dirty="0" smtClean="0">
                <a:latin typeface="Helvetica" pitchFamily="34" charset="0"/>
              </a:rPr>
              <a:t> 삽입해서 생성</a:t>
            </a:r>
            <a:r>
              <a:rPr lang="en-US" altLang="ko-KR" sz="1200" b="0" dirty="0" smtClean="0">
                <a:latin typeface="Helvetica" pitchFamily="34" charset="0"/>
              </a:rPr>
              <a:t>.</a:t>
            </a:r>
            <a:endParaRPr lang="en-US" altLang="ko-KR" sz="1200" b="0" dirty="0">
              <a:latin typeface="Helvetic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0" dirty="0" err="1" smtClean="0">
                <a:latin typeface="+mn-ea"/>
              </a:rPr>
              <a:t>생성자</a:t>
            </a:r>
            <a:r>
              <a:rPr lang="ko-KR" altLang="en-US" sz="1200" b="0" dirty="0" smtClean="0">
                <a:latin typeface="+mn-ea"/>
              </a:rPr>
              <a:t> 오버로딩</a:t>
            </a:r>
            <a:endParaRPr lang="en-US" altLang="ko-KR" sz="1200" b="0" dirty="0" smtClean="0">
              <a:latin typeface="+mn-ea"/>
            </a:endParaRPr>
          </a:p>
          <a:p>
            <a:pPr marL="516636" lvl="4" indent="0">
              <a:buNone/>
            </a:pPr>
            <a:r>
              <a:rPr lang="ko-KR" altLang="en-US" sz="1200" dirty="0">
                <a:latin typeface="+mn-ea"/>
              </a:rPr>
              <a:t>매개변수의 개수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타입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순서를 달리하는 같은 이름의 </a:t>
            </a:r>
            <a:r>
              <a:rPr lang="ko-KR" altLang="en-US" sz="1200" dirty="0" err="1">
                <a:latin typeface="+mn-ea"/>
              </a:rPr>
              <a:t>생성자를</a:t>
            </a:r>
            <a:r>
              <a:rPr lang="ko-KR" altLang="en-US" sz="1200" dirty="0">
                <a:latin typeface="+mn-ea"/>
              </a:rPr>
              <a:t> 여러 개 정의할 수 있으며 이를 </a:t>
            </a:r>
            <a:r>
              <a:rPr lang="ko-KR" altLang="en-US" sz="1200" dirty="0" err="1">
                <a:latin typeface="+mn-ea"/>
              </a:rPr>
              <a:t>생성자</a:t>
            </a:r>
            <a:r>
              <a:rPr lang="ko-KR" altLang="en-US" sz="1200" dirty="0">
                <a:latin typeface="+mn-ea"/>
              </a:rPr>
              <a:t> 오버로딩</a:t>
            </a:r>
            <a:r>
              <a:rPr lang="en-US" altLang="ko-KR" sz="1200" dirty="0">
                <a:latin typeface="+mn-ea"/>
              </a:rPr>
              <a:t> (overloading)</a:t>
            </a:r>
            <a:r>
              <a:rPr lang="ko-KR" altLang="en-US" sz="1200" dirty="0">
                <a:latin typeface="+mn-ea"/>
              </a:rPr>
              <a:t>이라고 한다</a:t>
            </a:r>
            <a:r>
              <a:rPr lang="en-US" altLang="ko-KR" sz="1200" dirty="0">
                <a:latin typeface="+mn-ea"/>
              </a:rPr>
              <a:t>. -&gt; </a:t>
            </a:r>
            <a:r>
              <a:rPr lang="ko-KR" altLang="en-US" sz="1200" dirty="0" err="1">
                <a:latin typeface="+mn-ea"/>
              </a:rPr>
              <a:t>다형성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구현</a:t>
            </a:r>
            <a:endParaRPr lang="en-US" altLang="ko-KR" sz="1200" b="0" dirty="0" smtClean="0">
              <a:latin typeface="+mn-ea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200" b="0" dirty="0" smtClean="0">
                <a:latin typeface="+mn-ea"/>
              </a:rPr>
              <a:t>this</a:t>
            </a:r>
          </a:p>
          <a:p>
            <a:pPr marL="516636" lvl="4" indent="0">
              <a:buNone/>
            </a:pPr>
            <a:r>
              <a:rPr lang="ko-KR" altLang="en-US" sz="1200" dirty="0" smtClean="0">
                <a:latin typeface="+mn-ea"/>
              </a:rPr>
              <a:t>현</a:t>
            </a:r>
            <a:r>
              <a:rPr lang="ko-KR" altLang="en-US" sz="1200" dirty="0">
                <a:latin typeface="+mn-ea"/>
              </a:rPr>
              <a:t>재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생성되어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사용 중인 객체의 자신을 의미</a:t>
            </a:r>
            <a:r>
              <a:rPr lang="en-US" altLang="ko-KR" sz="1200" dirty="0" smtClean="0">
                <a:latin typeface="+mn-ea"/>
              </a:rPr>
              <a:t>. </a:t>
            </a:r>
          </a:p>
          <a:p>
            <a:pPr marL="516636" lvl="4" indent="0">
              <a:buNone/>
            </a:pPr>
            <a:r>
              <a:rPr lang="en-US" altLang="ko-KR" sz="1200" dirty="0" smtClean="0">
                <a:latin typeface="+mn-ea"/>
              </a:rPr>
              <a:t>this</a:t>
            </a:r>
          </a:p>
          <a:p>
            <a:pPr marL="516636" lvl="4" indent="0">
              <a:buNone/>
            </a:pPr>
            <a:r>
              <a:rPr lang="ko-KR" altLang="en-US" sz="1200" b="0" dirty="0" smtClean="0">
                <a:latin typeface="+mn-ea"/>
              </a:rPr>
              <a:t>객체 자신을 의</a:t>
            </a:r>
            <a:r>
              <a:rPr lang="ko-KR" altLang="en-US" sz="1200" dirty="0" smtClean="0">
                <a:latin typeface="+mn-ea"/>
              </a:rPr>
              <a:t>미</a:t>
            </a:r>
            <a:r>
              <a:rPr lang="en-US" altLang="ko-KR" sz="1200" dirty="0">
                <a:latin typeface="+mn-ea"/>
              </a:rPr>
              <a:t>.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this.</a:t>
            </a:r>
            <a:r>
              <a:rPr lang="ko-KR" altLang="en-US" sz="1200" b="0" dirty="0" smtClean="0">
                <a:latin typeface="+mn-ea"/>
              </a:rPr>
              <a:t>속성 </a:t>
            </a:r>
            <a:r>
              <a:rPr lang="en-US" altLang="ko-KR" sz="1200" b="0" dirty="0" smtClean="0">
                <a:latin typeface="+mn-ea"/>
              </a:rPr>
              <a:t>this.</a:t>
            </a:r>
            <a:r>
              <a:rPr lang="ko-KR" altLang="en-US" sz="1200" b="0" dirty="0" err="1" smtClean="0">
                <a:latin typeface="+mn-ea"/>
              </a:rPr>
              <a:t>메서드</a:t>
            </a:r>
            <a:r>
              <a:rPr lang="ko-KR" altLang="en-US" sz="1200" b="0" dirty="0" smtClean="0">
                <a:latin typeface="+mn-ea"/>
              </a:rPr>
              <a:t> 형태로 사용</a:t>
            </a:r>
            <a:r>
              <a:rPr lang="en-US" altLang="ko-KR" sz="1200" b="0" dirty="0" smtClean="0">
                <a:latin typeface="+mn-ea"/>
              </a:rPr>
              <a:t>.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매개변수 이름이 멤버 변수 이름과 같을 때 많이 사용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516636" lvl="4" indent="0">
              <a:buNone/>
            </a:pPr>
            <a:r>
              <a:rPr lang="en-US" altLang="ko-KR" sz="1200" b="0" dirty="0" smtClean="0">
                <a:latin typeface="+mn-ea"/>
              </a:rPr>
              <a:t>this( )</a:t>
            </a:r>
          </a:p>
          <a:p>
            <a:pPr marL="516636" lvl="4" indent="0">
              <a:buNone/>
            </a:pPr>
            <a:r>
              <a:rPr lang="ko-KR" altLang="en-US" sz="1200" dirty="0" smtClean="0">
                <a:latin typeface="+mn-ea"/>
              </a:rPr>
              <a:t>객체의 </a:t>
            </a:r>
            <a:r>
              <a:rPr lang="ko-KR" altLang="en-US" sz="1200" dirty="0" err="1" smtClean="0">
                <a:latin typeface="+mn-ea"/>
              </a:rPr>
              <a:t>생성자</a:t>
            </a:r>
            <a:r>
              <a:rPr lang="ko-KR" altLang="en-US" sz="1200" dirty="0" smtClean="0">
                <a:latin typeface="+mn-ea"/>
              </a:rPr>
              <a:t> 의미</a:t>
            </a:r>
            <a:r>
              <a:rPr lang="en-US" altLang="ko-KR" sz="1200" dirty="0" smtClean="0">
                <a:latin typeface="+mn-ea"/>
              </a:rPr>
              <a:t>. </a:t>
            </a:r>
            <a:r>
              <a:rPr lang="ko-KR" altLang="en-US" sz="1200" dirty="0" err="1" smtClean="0">
                <a:latin typeface="+mn-ea"/>
              </a:rPr>
              <a:t>생성자</a:t>
            </a:r>
            <a:r>
              <a:rPr lang="ko-KR" altLang="en-US" sz="1200" dirty="0" smtClean="0">
                <a:latin typeface="+mn-ea"/>
              </a:rPr>
              <a:t> 오버로딩에서 </a:t>
            </a:r>
            <a:r>
              <a:rPr lang="ko-KR" altLang="en-US" sz="1200" dirty="0" err="1" smtClean="0">
                <a:latin typeface="+mn-ea"/>
              </a:rPr>
              <a:t>생상자</a:t>
            </a:r>
            <a:r>
              <a:rPr lang="ko-KR" altLang="en-US" sz="1200" dirty="0" smtClean="0">
                <a:latin typeface="+mn-ea"/>
              </a:rPr>
              <a:t> 안에서 다른 </a:t>
            </a:r>
            <a:r>
              <a:rPr lang="ko-KR" altLang="en-US" sz="1200" dirty="0" err="1" smtClean="0">
                <a:latin typeface="+mn-ea"/>
              </a:rPr>
              <a:t>생성자를</a:t>
            </a:r>
            <a:r>
              <a:rPr lang="ko-KR" altLang="en-US" sz="1200" dirty="0" smtClean="0">
                <a:latin typeface="+mn-ea"/>
              </a:rPr>
              <a:t> 호출하는 경우 많이 사용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b="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8008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632520"/>
            <a:ext cx="6624736" cy="5904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r>
              <a:rPr lang="ko-KR" altLang="en-US" sz="1200" b="0" dirty="0" err="1" smtClean="0">
                <a:latin typeface="+mn-ea"/>
              </a:rPr>
              <a:t>메소드</a:t>
            </a:r>
            <a:r>
              <a:rPr lang="ko-KR" altLang="en-US" sz="1200" b="0" dirty="0" smtClean="0">
                <a:latin typeface="+mn-ea"/>
              </a:rPr>
              <a:t> 선언</a:t>
            </a:r>
            <a:endParaRPr lang="en-US" altLang="ko-KR" sz="1200" b="0" dirty="0" smtClean="0">
              <a:latin typeface="+mn-ea"/>
            </a:endParaRPr>
          </a:p>
          <a:p>
            <a:pPr marL="516636" lvl="4" indent="0">
              <a:buNone/>
            </a:pPr>
            <a:r>
              <a:rPr lang="ko-KR" altLang="en-US" sz="1200" dirty="0" err="1" smtClean="0">
                <a:latin typeface="+mn-ea"/>
              </a:rPr>
              <a:t>메소드는</a:t>
            </a:r>
            <a:r>
              <a:rPr lang="ko-KR" altLang="en-US" sz="1200" dirty="0" smtClean="0">
                <a:latin typeface="+mn-ea"/>
              </a:rPr>
              <a:t> 클래스가 가지는 동적인 특성인 행위를 정의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516636" lvl="4" indent="0">
              <a:buNone/>
            </a:pPr>
            <a:r>
              <a:rPr lang="en-US" altLang="ko-KR" sz="1200" b="0" dirty="0" smtClean="0">
                <a:latin typeface="+mn-ea"/>
              </a:rPr>
              <a:t>[</a:t>
            </a:r>
            <a:r>
              <a:rPr lang="ko-KR" altLang="en-US" sz="1200" b="0" dirty="0" smtClean="0">
                <a:latin typeface="+mn-ea"/>
              </a:rPr>
              <a:t>접근 제어자</a:t>
            </a:r>
            <a:r>
              <a:rPr lang="en-US" altLang="ko-KR" sz="1200" b="0" dirty="0" smtClean="0">
                <a:latin typeface="+mn-ea"/>
              </a:rPr>
              <a:t>] </a:t>
            </a:r>
            <a:r>
              <a:rPr lang="ko-KR" altLang="en-US" sz="1200" b="0" dirty="0" err="1" smtClean="0">
                <a:latin typeface="+mn-ea"/>
              </a:rPr>
              <a:t>리턴타입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ko-KR" altLang="en-US" sz="1200" b="0" dirty="0" err="1" smtClean="0">
                <a:latin typeface="+mn-ea"/>
              </a:rPr>
              <a:t>메소드이름</a:t>
            </a:r>
            <a:r>
              <a:rPr lang="en-US" altLang="ko-KR" sz="1200" b="0" dirty="0" smtClean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[</a:t>
            </a:r>
            <a:r>
              <a:rPr lang="ko-KR" altLang="en-US" sz="1200" dirty="0" smtClean="0">
                <a:latin typeface="+mn-ea"/>
              </a:rPr>
              <a:t>매개 변수</a:t>
            </a:r>
            <a:r>
              <a:rPr lang="en-US" altLang="ko-KR" sz="1200" dirty="0" smtClean="0">
                <a:latin typeface="+mn-ea"/>
              </a:rPr>
              <a:t>1], [</a:t>
            </a:r>
            <a:r>
              <a:rPr lang="ko-KR" altLang="en-US" sz="1200" dirty="0" smtClean="0">
                <a:latin typeface="+mn-ea"/>
              </a:rPr>
              <a:t>매개 변수</a:t>
            </a:r>
            <a:r>
              <a:rPr lang="en-US" altLang="ko-KR" sz="1200" dirty="0" smtClean="0">
                <a:latin typeface="+mn-ea"/>
              </a:rPr>
              <a:t>2]){  </a:t>
            </a:r>
            <a:r>
              <a:rPr lang="en-US" altLang="ko-KR" sz="1200" dirty="0" smtClean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sz="1200" dirty="0" smtClean="0">
                <a:solidFill>
                  <a:srgbClr val="00B050"/>
                </a:solidFill>
                <a:latin typeface="+mn-ea"/>
              </a:rPr>
              <a:t> 내용</a:t>
            </a: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}</a:t>
            </a:r>
          </a:p>
          <a:p>
            <a:pPr marL="516636" lvl="4" indent="0">
              <a:buNone/>
            </a:pPr>
            <a:r>
              <a:rPr lang="en-US" altLang="ko-KR" sz="1200" dirty="0" smtClean="0">
                <a:latin typeface="+mn-ea"/>
              </a:rPr>
              <a:t>ex) public void test(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a, </a:t>
            </a:r>
            <a:r>
              <a:rPr lang="en-US" altLang="ko-KR" sz="1200" dirty="0" err="1" smtClean="0">
                <a:latin typeface="+mn-ea"/>
              </a:rPr>
              <a:t>int</a:t>
            </a:r>
            <a:r>
              <a:rPr lang="en-US" altLang="ko-KR" sz="1200" dirty="0" smtClean="0">
                <a:latin typeface="+mn-ea"/>
              </a:rPr>
              <a:t> b) { a = b; }</a:t>
            </a:r>
          </a:p>
          <a:p>
            <a:pPr marL="516636" lvl="4" indent="0">
              <a:buNone/>
            </a:pPr>
            <a:endParaRPr lang="en-US" altLang="ko-KR" sz="1200" b="0" dirty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 smtClean="0">
              <a:latin typeface="+mn-ea"/>
            </a:endParaRPr>
          </a:p>
          <a:p>
            <a:pPr marL="516636" lvl="4" indent="0">
              <a:buNone/>
            </a:pPr>
            <a:endParaRPr lang="en-US" altLang="ko-KR" sz="1200" b="0" dirty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 smtClean="0">
              <a:latin typeface="+mn-ea"/>
            </a:endParaRPr>
          </a:p>
          <a:p>
            <a:pPr marL="516636" lvl="4" indent="0">
              <a:buNone/>
            </a:pPr>
            <a:endParaRPr lang="en-US" altLang="ko-KR" sz="1200" b="0" dirty="0" smtClean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 smtClean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 smtClean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 smtClean="0">
              <a:latin typeface="+mn-ea"/>
            </a:endParaRPr>
          </a:p>
          <a:p>
            <a:pPr marL="516636" lvl="4" indent="0">
              <a:buNone/>
            </a:pPr>
            <a:endParaRPr lang="en-US" altLang="ko-KR" sz="1200" dirty="0">
              <a:latin typeface="+mn-ea"/>
            </a:endParaRPr>
          </a:p>
          <a:p>
            <a:pPr marL="516636" lvl="4" indent="0">
              <a:buNone/>
            </a:pPr>
            <a:endParaRPr lang="en-US" altLang="ko-KR" sz="1200" b="0" dirty="0" smtClean="0">
              <a:latin typeface="+mn-ea"/>
            </a:endParaRPr>
          </a:p>
          <a:p>
            <a:pPr marL="0" indent="0"/>
            <a:endParaRPr lang="en-US" altLang="ko-KR" sz="1200" b="0" dirty="0" smtClean="0">
              <a:latin typeface="+mn-ea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ko-KR" altLang="en-US" sz="1200" b="0" dirty="0" smtClean="0">
                <a:latin typeface="+mn-ea"/>
              </a:rPr>
              <a:t>클래스 </a:t>
            </a:r>
            <a:r>
              <a:rPr lang="ko-KR" altLang="en-US" sz="1200" b="0" dirty="0" err="1" smtClean="0">
                <a:latin typeface="+mn-ea"/>
              </a:rPr>
              <a:t>메소드</a:t>
            </a:r>
            <a:endParaRPr lang="en-US" altLang="ko-KR" sz="1200" b="0" dirty="0" smtClean="0">
              <a:latin typeface="+mn-ea"/>
            </a:endParaRPr>
          </a:p>
          <a:p>
            <a:pPr marL="516636" lvl="4" indent="0">
              <a:buNone/>
            </a:pPr>
            <a:r>
              <a:rPr lang="ko-KR" altLang="en-US" sz="1000" dirty="0" smtClean="0">
                <a:latin typeface="+mn-ea"/>
              </a:rPr>
              <a:t>멤버 변수에 </a:t>
            </a:r>
            <a:r>
              <a:rPr lang="en-US" altLang="ko-KR" sz="1000" dirty="0" smtClean="0">
                <a:latin typeface="+mn-ea"/>
              </a:rPr>
              <a:t>static</a:t>
            </a:r>
            <a:r>
              <a:rPr lang="ko-KR" altLang="en-US" sz="1000" dirty="0" smtClean="0">
                <a:latin typeface="+mn-ea"/>
              </a:rPr>
              <a:t>으로 선언되는 클래스 변수가 있는 것처럼 </a:t>
            </a:r>
            <a:r>
              <a:rPr lang="ko-KR" altLang="en-US" sz="1000" dirty="0" err="1" smtClean="0">
                <a:latin typeface="+mn-ea"/>
              </a:rPr>
              <a:t>메서드에도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static</a:t>
            </a:r>
            <a:r>
              <a:rPr lang="ko-KR" altLang="en-US" sz="1000" dirty="0" smtClean="0">
                <a:latin typeface="+mn-ea"/>
              </a:rPr>
              <a:t>으로 선언되는 </a:t>
            </a:r>
            <a:r>
              <a:rPr lang="ko-KR" altLang="en-US" sz="1000" dirty="0" err="1" smtClean="0">
                <a:latin typeface="+mn-ea"/>
              </a:rPr>
              <a:t>클레스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ko-KR" altLang="en-US" sz="1000" dirty="0" err="1" smtClean="0">
                <a:latin typeface="+mn-ea"/>
              </a:rPr>
              <a:t>메서드가</a:t>
            </a:r>
            <a:r>
              <a:rPr lang="ko-KR" altLang="en-US" sz="1000" dirty="0" smtClean="0">
                <a:latin typeface="+mn-ea"/>
              </a:rPr>
              <a:t> 있음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pPr marL="516636" lvl="4" indent="0">
              <a:buNone/>
            </a:pPr>
            <a:r>
              <a:rPr lang="en-US" altLang="ko-KR" sz="1000" b="0" dirty="0" smtClean="0">
                <a:latin typeface="+mn-ea"/>
              </a:rPr>
              <a:t>- </a:t>
            </a:r>
            <a:r>
              <a:rPr lang="ko-KR" altLang="en-US" sz="1000" b="0" dirty="0" smtClean="0">
                <a:latin typeface="+mn-ea"/>
              </a:rPr>
              <a:t>클래스를 로딩할 때 생김</a:t>
            </a:r>
            <a:r>
              <a:rPr lang="en-US" altLang="ko-KR" sz="1000" b="0" dirty="0" smtClean="0">
                <a:latin typeface="+mn-ea"/>
              </a:rPr>
              <a:t>		-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클래스 이름을 통해 접근</a:t>
            </a:r>
            <a:endParaRPr lang="en-US" altLang="ko-KR" sz="1000" dirty="0" smtClean="0">
              <a:latin typeface="+mn-ea"/>
            </a:endParaRPr>
          </a:p>
          <a:p>
            <a:pPr marL="516636" lvl="4" indent="0">
              <a:buNone/>
            </a:pPr>
            <a:r>
              <a:rPr lang="en-US" altLang="ko-KR" sz="1000" b="0" dirty="0" smtClean="0">
                <a:latin typeface="+mn-ea"/>
              </a:rPr>
              <a:t>- </a:t>
            </a:r>
            <a:r>
              <a:rPr lang="ko-KR" altLang="en-US" sz="1000" b="0" dirty="0" smtClean="0">
                <a:latin typeface="+mn-ea"/>
              </a:rPr>
              <a:t>클래스로부터 생성된 모든 객체가 공유</a:t>
            </a:r>
            <a:r>
              <a:rPr lang="en-US" altLang="ko-KR" sz="1000" b="0" dirty="0" smtClean="0">
                <a:latin typeface="+mn-ea"/>
              </a:rPr>
              <a:t>	- </a:t>
            </a:r>
            <a:r>
              <a:rPr lang="ko-KR" altLang="en-US" sz="1000" b="0" dirty="0" smtClean="0">
                <a:latin typeface="+mn-ea"/>
              </a:rPr>
              <a:t>일반 객체 변수 사용</a:t>
            </a:r>
            <a:r>
              <a:rPr lang="en-US" altLang="ko-KR" sz="1000" b="0" dirty="0" smtClean="0">
                <a:latin typeface="+mn-ea"/>
              </a:rPr>
              <a:t>X, </a:t>
            </a:r>
            <a:r>
              <a:rPr lang="ko-KR" altLang="en-US" sz="1000" b="0" dirty="0" err="1" smtClean="0">
                <a:latin typeface="+mn-ea"/>
              </a:rPr>
              <a:t>클래수</a:t>
            </a:r>
            <a:r>
              <a:rPr lang="ko-KR" altLang="en-US" sz="1000" b="0" dirty="0" smtClean="0">
                <a:latin typeface="+mn-ea"/>
              </a:rPr>
              <a:t> 변수만 사용</a:t>
            </a:r>
            <a:endParaRPr lang="en-US" altLang="ko-KR" sz="1000" b="0" dirty="0" smtClean="0">
              <a:latin typeface="+mn-ea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ko-KR" altLang="en-US" sz="1200" b="0" dirty="0" err="1" smtClean="0">
                <a:latin typeface="+mn-ea"/>
              </a:rPr>
              <a:t>메소드</a:t>
            </a:r>
            <a:r>
              <a:rPr lang="ko-KR" altLang="en-US" sz="1200" b="0" dirty="0" smtClean="0">
                <a:latin typeface="+mn-ea"/>
              </a:rPr>
              <a:t> 오버로딩</a:t>
            </a:r>
            <a:endParaRPr lang="en-US" altLang="ko-KR" sz="1200" b="0" dirty="0" smtClean="0">
              <a:latin typeface="+mn-ea"/>
            </a:endParaRPr>
          </a:p>
          <a:p>
            <a:pPr marL="688086" lvl="4" indent="-171450">
              <a:buFontTx/>
              <a:buChar char="-"/>
            </a:pPr>
            <a:r>
              <a:rPr lang="ko-KR" altLang="en-US" sz="1200" dirty="0" err="1" smtClean="0">
                <a:latin typeface="+mn-ea"/>
              </a:rPr>
              <a:t>생성자</a:t>
            </a:r>
            <a:r>
              <a:rPr lang="ko-KR" altLang="en-US" sz="1200" dirty="0" smtClean="0">
                <a:latin typeface="+mn-ea"/>
              </a:rPr>
              <a:t> 오버로딩과 동일한 </a:t>
            </a:r>
            <a:r>
              <a:rPr lang="ko-KR" altLang="en-US" sz="1200" dirty="0" err="1" smtClean="0">
                <a:latin typeface="+mn-ea"/>
              </a:rPr>
              <a:t>개념같은</a:t>
            </a:r>
            <a:r>
              <a:rPr lang="ko-KR" altLang="en-US" sz="1200" dirty="0" smtClean="0">
                <a:latin typeface="+mn-ea"/>
              </a:rPr>
              <a:t> 클래스 안에 매개변수의 개수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타입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순서를 달리 하는 동일한 이름의 </a:t>
            </a:r>
            <a:r>
              <a:rPr lang="ko-KR" altLang="en-US" sz="1200" dirty="0" err="1" smtClean="0">
                <a:latin typeface="+mn-ea"/>
              </a:rPr>
              <a:t>메서드가</a:t>
            </a:r>
            <a:r>
              <a:rPr lang="ko-KR" altLang="en-US" sz="1200" dirty="0" smtClean="0">
                <a:latin typeface="+mn-ea"/>
              </a:rPr>
              <a:t> 여러 개 존재</a:t>
            </a:r>
            <a:endParaRPr lang="en-US" altLang="ko-KR" sz="1200" dirty="0">
              <a:latin typeface="+mn-ea"/>
            </a:endParaRPr>
          </a:p>
          <a:p>
            <a:pPr marL="688086" lvl="4" indent="-171450">
              <a:buFontTx/>
              <a:buChar char="-"/>
            </a:pPr>
            <a:r>
              <a:rPr lang="ko-KR" altLang="en-US" sz="1200" dirty="0" err="1" smtClean="0">
                <a:latin typeface="+mn-ea"/>
              </a:rPr>
              <a:t>다형성</a:t>
            </a:r>
            <a:r>
              <a:rPr lang="ko-KR" altLang="en-US" sz="1200" dirty="0" smtClean="0">
                <a:latin typeface="+mn-ea"/>
              </a:rPr>
              <a:t> 구현 </a:t>
            </a:r>
            <a:r>
              <a:rPr lang="en-US" altLang="ko-KR" sz="1200" dirty="0" smtClean="0">
                <a:latin typeface="+mn-ea"/>
              </a:rPr>
              <a:t>X, </a:t>
            </a:r>
            <a:r>
              <a:rPr lang="ko-KR" altLang="en-US" sz="1200" dirty="0" err="1" smtClean="0">
                <a:latin typeface="+mn-ea"/>
              </a:rPr>
              <a:t>리턴타입과</a:t>
            </a:r>
            <a:r>
              <a:rPr lang="ko-KR" altLang="en-US" sz="1200" dirty="0" smtClean="0">
                <a:latin typeface="+mn-ea"/>
              </a:rPr>
              <a:t> 접근제어자가 다른 것은 상관 없음</a:t>
            </a:r>
            <a:endParaRPr lang="en-US" altLang="ko-KR" sz="1200" b="0" dirty="0" smtClean="0">
              <a:latin typeface="+mn-ea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644" y="9627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smtClean="0">
                <a:latin typeface="+mn-ea"/>
                <a:ea typeface="+mn-ea"/>
              </a:rPr>
              <a:t>14. </a:t>
            </a:r>
            <a:r>
              <a:rPr lang="ko-KR" altLang="en-US" sz="1800" dirty="0" err="1" smtClean="0">
                <a:latin typeface="+mn-ea"/>
                <a:ea typeface="+mn-ea"/>
              </a:rPr>
              <a:t>메소드와</a:t>
            </a:r>
            <a:r>
              <a:rPr lang="ko-KR" altLang="en-US" sz="1800" dirty="0" smtClean="0">
                <a:latin typeface="+mn-ea"/>
                <a:ea typeface="+mn-ea"/>
              </a:rPr>
              <a:t> 오버로딩 </a:t>
            </a:r>
            <a:endParaRPr lang="ko-KR" altLang="en-US" sz="1800" dirty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943051"/>
              </p:ext>
            </p:extLst>
          </p:nvPr>
        </p:nvGraphicFramePr>
        <p:xfrm>
          <a:off x="224644" y="1640632"/>
          <a:ext cx="6498428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01660"/>
                <a:gridCol w="1260524"/>
                <a:gridCol w="3336244"/>
              </a:tblGrid>
              <a:tr h="20905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메소드에서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사용되는 접근 제어자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090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접근 제어자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0905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접근 권한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public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모든 클래스에서 접근 가능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32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default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동일 패키지에서만 접근 가능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32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protected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동일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하위 클래스 관계에서 접근 가능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090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private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자신 클래스 안에서만 접근 가능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0905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활용 방법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final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오버라이딩이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불가능한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메소드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정의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090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클래스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메소드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322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추상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</a:rPr>
                        <a:t>메소드로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하위 클래스에 의해 구현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090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synchronized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스레드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동기화를 위한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메소드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내용 개체 틀 2"/>
          <p:cNvSpPr txBox="1">
            <a:spLocks/>
          </p:cNvSpPr>
          <p:nvPr/>
        </p:nvSpPr>
        <p:spPr>
          <a:xfrm>
            <a:off x="116632" y="7329264"/>
            <a:ext cx="6624736" cy="2576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</a:pPr>
            <a:r>
              <a:rPr lang="en-US" altLang="ko-KR" sz="1200" b="0" dirty="0" smtClean="0">
                <a:latin typeface="+mn-ea"/>
              </a:rPr>
              <a:t>++ </a:t>
            </a:r>
            <a:r>
              <a:rPr lang="ko-KR" altLang="en-US" sz="1200" b="0" dirty="0" smtClean="0">
                <a:latin typeface="+mn-ea"/>
              </a:rPr>
              <a:t>왜 </a:t>
            </a:r>
            <a:r>
              <a:rPr lang="en-US" altLang="ko-KR" sz="1200" b="0" dirty="0" smtClean="0">
                <a:latin typeface="+mn-ea"/>
              </a:rPr>
              <a:t>main( )</a:t>
            </a:r>
            <a:r>
              <a:rPr lang="ko-KR" altLang="en-US" sz="1200" b="0" dirty="0" err="1" smtClean="0">
                <a:latin typeface="+mn-ea"/>
              </a:rPr>
              <a:t>메서드에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static</a:t>
            </a:r>
            <a:r>
              <a:rPr lang="ko-KR" altLang="en-US" sz="1200" b="0" dirty="0" smtClean="0">
                <a:latin typeface="+mn-ea"/>
              </a:rPr>
              <a:t>을 붙일까</a:t>
            </a:r>
            <a:r>
              <a:rPr lang="en-US" altLang="ko-KR" sz="1200" b="0" dirty="0" smtClean="0">
                <a:latin typeface="+mn-ea"/>
              </a:rPr>
              <a:t>?</a:t>
            </a:r>
            <a:r>
              <a:rPr lang="en-US" altLang="ko-KR" sz="1200" b="0" dirty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++</a:t>
            </a:r>
          </a:p>
          <a:p>
            <a:pPr marL="0" indent="0">
              <a:lnSpc>
                <a:spcPct val="200000"/>
              </a:lnSpc>
            </a:pPr>
            <a:r>
              <a:rPr lang="ko-KR" altLang="en-US" sz="1200" b="0" dirty="0" smtClean="0">
                <a:latin typeface="+mn-ea"/>
              </a:rPr>
              <a:t>일상적으로 </a:t>
            </a:r>
            <a:r>
              <a:rPr lang="en-US" altLang="ko-KR" sz="1200" b="0" dirty="0" smtClean="0">
                <a:latin typeface="+mn-ea"/>
              </a:rPr>
              <a:t>static</a:t>
            </a:r>
            <a:r>
              <a:rPr lang="ko-KR" altLang="en-US" sz="1200" b="0" dirty="0" smtClean="0">
                <a:latin typeface="+mn-ea"/>
              </a:rPr>
              <a:t>이 붙지 않는 </a:t>
            </a:r>
            <a:r>
              <a:rPr lang="ko-KR" altLang="en-US" sz="1200" b="0" dirty="0" err="1" smtClean="0">
                <a:latin typeface="+mn-ea"/>
              </a:rPr>
              <a:t>메서드의</a:t>
            </a:r>
            <a:r>
              <a:rPr lang="ko-KR" altLang="en-US" sz="1200" b="0" dirty="0" smtClean="0">
                <a:latin typeface="+mn-ea"/>
              </a:rPr>
              <a:t> 경우 </a:t>
            </a:r>
            <a:r>
              <a:rPr lang="ko-KR" altLang="en-US" sz="1200" b="0" dirty="0" err="1" smtClean="0">
                <a:latin typeface="+mn-ea"/>
              </a:rPr>
              <a:t>메서드의</a:t>
            </a:r>
            <a:r>
              <a:rPr lang="ko-KR" altLang="en-US" sz="1200" b="0" dirty="0" smtClean="0">
                <a:latin typeface="+mn-ea"/>
              </a:rPr>
              <a:t> 호출이 실행될 때 </a:t>
            </a:r>
            <a:r>
              <a:rPr lang="ko-KR" altLang="en-US" sz="1200" b="0" dirty="0" err="1" smtClean="0">
                <a:latin typeface="+mn-ea"/>
              </a:rPr>
              <a:t>메서드를</a:t>
            </a:r>
            <a:r>
              <a:rPr lang="ko-KR" altLang="en-US" sz="1200" b="0" dirty="0" smtClean="0">
                <a:latin typeface="+mn-ea"/>
              </a:rPr>
              <a:t> 할당 받는다</a:t>
            </a:r>
            <a:r>
              <a:rPr lang="en-US" altLang="ko-KR" sz="1200" b="0" dirty="0" smtClean="0">
                <a:latin typeface="+mn-ea"/>
              </a:rPr>
              <a:t>. </a:t>
            </a:r>
            <a:r>
              <a:rPr lang="ko-KR" altLang="en-US" sz="1200" b="0" dirty="0" smtClean="0">
                <a:latin typeface="+mn-ea"/>
              </a:rPr>
              <a:t>그리고 실행이 종료 되면 메모리를 반환한다</a:t>
            </a:r>
            <a:r>
              <a:rPr lang="en-US" altLang="ko-KR" sz="1200" b="0" dirty="0" smtClean="0">
                <a:latin typeface="+mn-ea"/>
              </a:rPr>
              <a:t>. </a:t>
            </a:r>
            <a:r>
              <a:rPr lang="ko-KR" altLang="en-US" sz="1200" b="0" dirty="0" smtClean="0">
                <a:latin typeface="+mn-ea"/>
              </a:rPr>
              <a:t>그에 반에 </a:t>
            </a:r>
            <a:r>
              <a:rPr lang="en-US" altLang="ko-KR" sz="1200" b="0" dirty="0" smtClean="0">
                <a:latin typeface="+mn-ea"/>
              </a:rPr>
              <a:t>static</a:t>
            </a:r>
            <a:r>
              <a:rPr lang="ko-KR" altLang="en-US" sz="1200" b="0" dirty="0" smtClean="0">
                <a:latin typeface="+mn-ea"/>
              </a:rPr>
              <a:t>이 붙은 </a:t>
            </a:r>
            <a:r>
              <a:rPr lang="en-US" altLang="ko-KR" sz="1200" b="0" dirty="0" err="1" smtClean="0">
                <a:latin typeface="+mn-ea"/>
              </a:rPr>
              <a:t>qustnks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ko-KR" altLang="en-US" sz="1200" b="0" dirty="0" err="1" smtClean="0">
                <a:latin typeface="+mn-ea"/>
              </a:rPr>
              <a:t>메서드는</a:t>
            </a:r>
            <a:r>
              <a:rPr lang="ko-KR" altLang="en-US" sz="1200" b="0" dirty="0" smtClean="0">
                <a:latin typeface="+mn-ea"/>
              </a:rPr>
              <a:t> 호출 전에 메모리를 먼저 할당 받고 프로그램이 실행되는 동안 계속 상주한다</a:t>
            </a:r>
            <a:r>
              <a:rPr lang="en-US" altLang="ko-KR" sz="1200" b="0" dirty="0" smtClean="0">
                <a:latin typeface="+mn-ea"/>
              </a:rPr>
              <a:t>. </a:t>
            </a:r>
            <a:r>
              <a:rPr lang="ko-KR" altLang="en-US" sz="1200" b="0" dirty="0" smtClean="0">
                <a:latin typeface="+mn-ea"/>
              </a:rPr>
              <a:t>따라서 </a:t>
            </a:r>
            <a:r>
              <a:rPr lang="en-US" altLang="ko-KR" sz="1200" b="0" dirty="0" smtClean="0">
                <a:latin typeface="+mn-ea"/>
              </a:rPr>
              <a:t>main( )</a:t>
            </a:r>
            <a:r>
              <a:rPr lang="ko-KR" altLang="en-US" sz="1200" b="0" dirty="0" err="1" smtClean="0">
                <a:latin typeface="+mn-ea"/>
              </a:rPr>
              <a:t>메서드는</a:t>
            </a:r>
            <a:r>
              <a:rPr lang="ko-KR" altLang="en-US" sz="1200" b="0" dirty="0" smtClean="0">
                <a:latin typeface="+mn-ea"/>
              </a:rPr>
              <a:t> 자바 프로그램이 실행되는 동안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ko-KR" altLang="en-US" sz="1200" b="0" dirty="0" smtClean="0">
                <a:latin typeface="+mn-ea"/>
              </a:rPr>
              <a:t>호출하지 않더라도 메모리를 </a:t>
            </a:r>
            <a:r>
              <a:rPr lang="ko-KR" altLang="en-US" sz="1200" b="0" dirty="0" err="1" smtClean="0">
                <a:latin typeface="+mn-ea"/>
              </a:rPr>
              <a:t>할당받고</a:t>
            </a:r>
            <a:r>
              <a:rPr lang="ko-KR" altLang="en-US" sz="1200" b="0" dirty="0" smtClean="0">
                <a:latin typeface="+mn-ea"/>
              </a:rPr>
              <a:t> 항상 상주하고 있어야 하므로 </a:t>
            </a:r>
            <a:r>
              <a:rPr lang="en-US" altLang="ko-KR" sz="1200" b="0" dirty="0" smtClean="0">
                <a:latin typeface="+mn-ea"/>
              </a:rPr>
              <a:t>static</a:t>
            </a:r>
            <a:r>
              <a:rPr lang="ko-KR" altLang="en-US" sz="1200" b="0" dirty="0" smtClean="0">
                <a:latin typeface="+mn-ea"/>
              </a:rPr>
              <a:t>을 붙인다</a:t>
            </a:r>
            <a:r>
              <a:rPr lang="en-US" altLang="ko-KR" sz="1200" b="0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44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632519"/>
            <a:ext cx="6624736" cy="9273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ko-KR" altLang="en-US" sz="1200" b="0" dirty="0" smtClean="0">
                <a:latin typeface="+mn-ea"/>
              </a:rPr>
              <a:t>기존에 있는 클래스의 멤버 변수나 </a:t>
            </a:r>
            <a:r>
              <a:rPr lang="ko-KR" altLang="en-US" sz="1200" b="0" dirty="0" err="1" smtClean="0">
                <a:latin typeface="+mn-ea"/>
              </a:rPr>
              <a:t>메소드를</a:t>
            </a:r>
            <a:r>
              <a:rPr lang="ko-KR" altLang="en-US" sz="1200" b="0" dirty="0" smtClean="0">
                <a:latin typeface="+mn-ea"/>
              </a:rPr>
              <a:t> 물려받아 새로운 클래스를 만드는 것 </a:t>
            </a:r>
            <a:endParaRPr lang="en-US" altLang="ko-KR" sz="1200" b="0" dirty="0" smtClean="0">
              <a:latin typeface="+mn-ea"/>
            </a:endParaRPr>
          </a:p>
          <a:p>
            <a:pPr marL="0" indent="0"/>
            <a:r>
              <a:rPr lang="en-US" altLang="ko-KR" sz="1200" b="0" dirty="0" smtClean="0">
                <a:latin typeface="+mn-ea"/>
              </a:rPr>
              <a:t>(</a:t>
            </a:r>
            <a:r>
              <a:rPr lang="ko-KR" altLang="en-US" sz="1200" b="0" dirty="0" smtClean="0">
                <a:latin typeface="+mn-ea"/>
              </a:rPr>
              <a:t>코드의 </a:t>
            </a:r>
            <a:r>
              <a:rPr lang="ko-KR" altLang="en-US" sz="1200" b="0" dirty="0" err="1" smtClean="0">
                <a:latin typeface="+mn-ea"/>
              </a:rPr>
              <a:t>재사용성</a:t>
            </a:r>
            <a:r>
              <a:rPr lang="en-US" altLang="ko-KR" sz="1200" b="0" dirty="0" smtClean="0">
                <a:latin typeface="+mn-ea"/>
              </a:rPr>
              <a:t>)</a:t>
            </a:r>
          </a:p>
          <a:p>
            <a:pPr marL="0" indent="0"/>
            <a:r>
              <a:rPr lang="en-US" altLang="ko-KR" sz="1200" b="0" dirty="0" smtClean="0">
                <a:latin typeface="+mn-ea"/>
              </a:rPr>
              <a:t>* JAVA</a:t>
            </a:r>
            <a:r>
              <a:rPr lang="ko-KR" altLang="en-US" sz="1200" b="0" dirty="0" smtClean="0">
                <a:latin typeface="+mn-ea"/>
              </a:rPr>
              <a:t>는 단일상속을 지원 </a:t>
            </a:r>
            <a:r>
              <a:rPr lang="en-US" altLang="ko-KR" sz="1200" b="0" dirty="0" smtClean="0">
                <a:latin typeface="+mn-ea"/>
              </a:rPr>
              <a:t>: </a:t>
            </a:r>
            <a:r>
              <a:rPr lang="ko-KR" altLang="en-US" sz="1200" b="0" dirty="0" smtClean="0">
                <a:latin typeface="+mn-ea"/>
              </a:rPr>
              <a:t>상위클래스는 하나만 지정한다</a:t>
            </a:r>
            <a:r>
              <a:rPr lang="en-US" altLang="ko-KR" sz="1200" b="0" dirty="0" smtClean="0">
                <a:latin typeface="+mn-ea"/>
              </a:rPr>
              <a:t>. *</a:t>
            </a:r>
          </a:p>
          <a:p>
            <a:pPr marL="0" indent="0"/>
            <a:r>
              <a:rPr lang="en-US" altLang="ko-KR" sz="1200" b="0" dirty="0" smtClean="0">
                <a:latin typeface="+mn-ea"/>
              </a:rPr>
              <a:t>ex ) </a:t>
            </a:r>
            <a:r>
              <a:rPr lang="ko-KR" altLang="en-US" sz="1200" b="0" dirty="0" smtClean="0">
                <a:latin typeface="+mn-ea"/>
              </a:rPr>
              <a:t>클래스 정의의 예</a:t>
            </a:r>
            <a:endParaRPr lang="en-US" altLang="ko-KR" sz="1200" b="0" dirty="0" smtClean="0">
              <a:latin typeface="+mn-ea"/>
            </a:endParaRPr>
          </a:p>
          <a:p>
            <a:pPr marL="0" indent="0"/>
            <a:endParaRPr lang="en-US" altLang="ko-KR" sz="1200" b="0" dirty="0">
              <a:latin typeface="+mn-ea"/>
            </a:endParaRPr>
          </a:p>
          <a:p>
            <a:pPr marL="0" indent="0"/>
            <a:endParaRPr lang="en-US" altLang="ko-KR" sz="1200" b="0" dirty="0" smtClean="0">
              <a:latin typeface="+mn-ea"/>
            </a:endParaRPr>
          </a:p>
          <a:p>
            <a:pPr marL="0" indent="0"/>
            <a:endParaRPr lang="en-US" altLang="ko-KR" sz="1200" b="0" dirty="0">
              <a:latin typeface="+mn-ea"/>
            </a:endParaRPr>
          </a:p>
          <a:p>
            <a:pPr marL="0" indent="0"/>
            <a:endParaRPr lang="en-US" altLang="ko-KR" sz="1200" b="0" dirty="0" smtClean="0">
              <a:latin typeface="+mn-ea"/>
            </a:endParaRPr>
          </a:p>
          <a:p>
            <a:pPr marL="0" indent="0"/>
            <a:endParaRPr lang="en-US" altLang="ko-KR" sz="1200" b="0" dirty="0">
              <a:latin typeface="+mn-ea"/>
            </a:endParaRPr>
          </a:p>
          <a:p>
            <a:pPr marL="0" indent="0"/>
            <a:r>
              <a:rPr lang="en-US" altLang="ko-KR" sz="1200" b="0" dirty="0" smtClean="0">
                <a:latin typeface="+mn-ea"/>
              </a:rPr>
              <a:t>- </a:t>
            </a:r>
            <a:r>
              <a:rPr lang="ko-KR" altLang="en-US" sz="1200" b="0" dirty="0" smtClean="0">
                <a:latin typeface="+mn-ea"/>
              </a:rPr>
              <a:t>상속 방법</a:t>
            </a:r>
            <a:endParaRPr lang="en-US" altLang="ko-KR" sz="1200" b="0" dirty="0" smtClean="0">
              <a:latin typeface="+mn-ea"/>
            </a:endParaRPr>
          </a:p>
          <a:p>
            <a:pPr marL="0" indent="0"/>
            <a:r>
              <a:rPr lang="en-US" altLang="ko-KR" sz="1200" b="0" dirty="0" smtClean="0">
                <a:latin typeface="+mn-ea"/>
              </a:rPr>
              <a:t>[</a:t>
            </a:r>
            <a:r>
              <a:rPr lang="ko-KR" altLang="en-US" sz="1200" b="0" dirty="0">
                <a:latin typeface="+mn-ea"/>
              </a:rPr>
              <a:t> </a:t>
            </a:r>
            <a:r>
              <a:rPr lang="ko-KR" altLang="en-US" sz="1200" b="0" dirty="0" smtClean="0">
                <a:latin typeface="+mn-ea"/>
              </a:rPr>
              <a:t>접근제어자 </a:t>
            </a:r>
            <a:r>
              <a:rPr lang="en-US" altLang="ko-KR" sz="1200" b="0" dirty="0" smtClean="0">
                <a:latin typeface="+mn-ea"/>
              </a:rPr>
              <a:t>] class </a:t>
            </a:r>
            <a:r>
              <a:rPr lang="ko-KR" altLang="en-US" sz="1200" b="0" dirty="0" smtClean="0">
                <a:latin typeface="+mn-ea"/>
              </a:rPr>
              <a:t>클래스 이름 </a:t>
            </a:r>
            <a:r>
              <a:rPr lang="en-US" altLang="ko-KR" sz="1200" b="0" dirty="0" smtClean="0">
                <a:latin typeface="+mn-ea"/>
              </a:rPr>
              <a:t>extends </a:t>
            </a:r>
            <a:r>
              <a:rPr lang="ko-KR" altLang="en-US" sz="1200" b="0" dirty="0" smtClean="0">
                <a:latin typeface="+mn-ea"/>
              </a:rPr>
              <a:t>상위 </a:t>
            </a:r>
            <a:r>
              <a:rPr lang="ko-KR" altLang="en-US" sz="1200" b="0" dirty="0" err="1" smtClean="0">
                <a:latin typeface="+mn-ea"/>
              </a:rPr>
              <a:t>클래스명</a:t>
            </a:r>
            <a:endParaRPr lang="en-US" altLang="ko-KR" sz="1200" b="0" dirty="0" smtClean="0">
              <a:latin typeface="+mn-ea"/>
            </a:endParaRPr>
          </a:p>
          <a:p>
            <a:pPr marL="0" indent="0"/>
            <a:r>
              <a:rPr lang="en-US" altLang="ko-KR" sz="1200" b="0" dirty="0" smtClean="0">
                <a:latin typeface="+mn-ea"/>
              </a:rPr>
              <a:t>ex ) public class </a:t>
            </a:r>
            <a:r>
              <a:rPr lang="en-US" altLang="ko-KR" sz="1200" b="0" dirty="0">
                <a:latin typeface="+mn-ea"/>
              </a:rPr>
              <a:t>B</a:t>
            </a:r>
            <a:r>
              <a:rPr lang="en-US" altLang="ko-KR" sz="1200" b="0" dirty="0" smtClean="0">
                <a:latin typeface="+mn-ea"/>
              </a:rPr>
              <a:t>us extends Car{  }</a:t>
            </a:r>
          </a:p>
          <a:p>
            <a:pPr marL="0" indent="0"/>
            <a:r>
              <a:rPr lang="en-US" altLang="ko-KR" sz="1200" b="0" dirty="0" smtClean="0">
                <a:latin typeface="+mn-ea"/>
              </a:rPr>
              <a:t>- </a:t>
            </a:r>
            <a:r>
              <a:rPr lang="ko-KR" altLang="en-US" sz="1200" b="0" dirty="0" smtClean="0">
                <a:latin typeface="+mn-ea"/>
              </a:rPr>
              <a:t>상속과 접근 제어자</a:t>
            </a:r>
            <a:endParaRPr lang="en-US" altLang="ko-KR" sz="1200" b="0" dirty="0" smtClean="0">
              <a:latin typeface="+mn-ea"/>
            </a:endParaRPr>
          </a:p>
          <a:p>
            <a:pPr marL="0" indent="0"/>
            <a:r>
              <a:rPr lang="en-US" altLang="ko-KR" sz="1200" b="0" dirty="0" smtClean="0">
                <a:latin typeface="+mn-ea"/>
              </a:rPr>
              <a:t>protected</a:t>
            </a:r>
            <a:r>
              <a:rPr lang="ko-KR" altLang="en-US" sz="1200" b="0" dirty="0" smtClean="0">
                <a:latin typeface="+mn-ea"/>
              </a:rPr>
              <a:t>인 경우 하위</a:t>
            </a:r>
            <a:r>
              <a:rPr lang="en-US" altLang="ko-KR" sz="1200" b="0" dirty="0" smtClean="0">
                <a:latin typeface="+mn-ea"/>
              </a:rPr>
              <a:t> </a:t>
            </a:r>
            <a:r>
              <a:rPr lang="ko-KR" altLang="en-US" sz="1200" b="0" dirty="0" smtClean="0">
                <a:latin typeface="+mn-ea"/>
              </a:rPr>
              <a:t>클래스에서 접근할 수 있지만 </a:t>
            </a:r>
            <a:r>
              <a:rPr lang="en-US" altLang="ko-KR" sz="1200" b="0" dirty="0" smtClean="0">
                <a:latin typeface="+mn-ea"/>
              </a:rPr>
              <a:t>private</a:t>
            </a:r>
            <a:r>
              <a:rPr lang="ko-KR" altLang="en-US" sz="1200" b="0" dirty="0" smtClean="0">
                <a:latin typeface="+mn-ea"/>
              </a:rPr>
              <a:t>인 경우 상속 관계에서도 접근이 불가능하다</a:t>
            </a:r>
            <a:r>
              <a:rPr lang="en-US" altLang="ko-KR" sz="1200" b="0" dirty="0" smtClean="0">
                <a:latin typeface="+mn-ea"/>
              </a:rPr>
              <a:t>. </a:t>
            </a:r>
          </a:p>
          <a:p>
            <a:pPr marL="0" indent="0"/>
            <a:endParaRPr lang="en-US" altLang="ko-KR" sz="1200" b="0" dirty="0">
              <a:latin typeface="+mn-ea"/>
            </a:endParaRPr>
          </a:p>
          <a:p>
            <a:pPr marL="0" indent="0"/>
            <a:r>
              <a:rPr lang="en-US" altLang="ko-KR" sz="1200" b="0" dirty="0" smtClean="0">
                <a:latin typeface="+mn-ea"/>
              </a:rPr>
              <a:t>** </a:t>
            </a:r>
            <a:r>
              <a:rPr lang="ko-KR" altLang="en-US" sz="1200" b="0" dirty="0" smtClean="0">
                <a:latin typeface="+mn-ea"/>
              </a:rPr>
              <a:t>상속과 </a:t>
            </a:r>
            <a:r>
              <a:rPr lang="ko-KR" altLang="en-US" sz="1200" b="0" dirty="0" err="1" smtClean="0">
                <a:latin typeface="+mn-ea"/>
              </a:rPr>
              <a:t>생성자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**</a:t>
            </a:r>
            <a:endParaRPr lang="en-US" altLang="ko-KR" sz="1200" b="0" dirty="0">
              <a:latin typeface="+mn-ea"/>
            </a:endParaRPr>
          </a:p>
          <a:p>
            <a:r>
              <a:rPr lang="ko-KR" altLang="en-US" sz="1200" b="0" dirty="0" err="1"/>
              <a:t>메소드</a:t>
            </a:r>
            <a:r>
              <a:rPr lang="ko-KR" altLang="en-US" sz="1200" b="0" dirty="0"/>
              <a:t> 호출의 기본 원칙 </a:t>
            </a:r>
            <a:r>
              <a:rPr lang="en-US" altLang="ko-KR" sz="1200" b="0" dirty="0"/>
              <a:t>: </a:t>
            </a:r>
            <a:r>
              <a:rPr lang="ko-KR" altLang="en-US" sz="1200" b="0" dirty="0"/>
              <a:t>한 클래스에서 한 </a:t>
            </a:r>
            <a:r>
              <a:rPr lang="ko-KR" altLang="en-US" sz="1200" b="0" dirty="0" err="1"/>
              <a:t>메소드가</a:t>
            </a:r>
            <a:r>
              <a:rPr lang="ko-KR" altLang="en-US" sz="1200" b="0" dirty="0"/>
              <a:t> 호출되면 </a:t>
            </a:r>
            <a:endParaRPr lang="en-US" altLang="ko-KR" sz="1200" b="0" dirty="0" smtClean="0"/>
          </a:p>
          <a:p>
            <a:pPr marL="0" indent="0"/>
            <a:r>
              <a:rPr lang="en-US" altLang="ko-KR" sz="1200" b="0" dirty="0" smtClean="0"/>
              <a:t>1.   </a:t>
            </a:r>
            <a:r>
              <a:rPr lang="ko-KR" altLang="en-US" sz="1200" b="0" dirty="0" smtClean="0"/>
              <a:t>클래스 </a:t>
            </a:r>
            <a:r>
              <a:rPr lang="ko-KR" altLang="en-US" sz="1200" b="0" dirty="0"/>
              <a:t>내에 정의된 </a:t>
            </a:r>
            <a:r>
              <a:rPr lang="ko-KR" altLang="en-US" sz="1200" b="0" dirty="0" err="1" smtClean="0"/>
              <a:t>메소드인지</a:t>
            </a:r>
            <a:r>
              <a:rPr lang="ko-KR" altLang="en-US" sz="1200" b="0" dirty="0" smtClean="0"/>
              <a:t> </a:t>
            </a:r>
            <a:r>
              <a:rPr lang="ko-KR" altLang="en-US" sz="1200" b="0" dirty="0"/>
              <a:t>확인</a:t>
            </a:r>
            <a:r>
              <a:rPr lang="en-US" altLang="ko-KR" sz="1200" b="0" dirty="0"/>
              <a:t>(</a:t>
            </a:r>
            <a:r>
              <a:rPr lang="ko-KR" altLang="en-US" sz="1200" b="0" dirty="0"/>
              <a:t>있으면 클래스 내의 것을 실행</a:t>
            </a:r>
            <a:r>
              <a:rPr lang="en-US" altLang="ko-KR" sz="1200" b="0" dirty="0"/>
              <a:t>)</a:t>
            </a:r>
            <a:r>
              <a:rPr lang="ko-KR" altLang="en-US" sz="1200" b="0" dirty="0"/>
              <a:t> </a:t>
            </a:r>
            <a:endParaRPr lang="en-US" altLang="ko-KR" sz="1200" b="0" dirty="0" smtClean="0"/>
          </a:p>
          <a:p>
            <a:pPr marL="0" indent="0"/>
            <a:r>
              <a:rPr lang="en-US" altLang="ko-KR" sz="1200" b="0" dirty="0" smtClean="0"/>
              <a:t>2.  </a:t>
            </a:r>
            <a:r>
              <a:rPr lang="ko-KR" altLang="en-US" sz="1200" b="0" dirty="0" smtClean="0"/>
              <a:t>아니라면 </a:t>
            </a:r>
            <a:r>
              <a:rPr lang="ko-KR" altLang="en-US" sz="1200" b="0" dirty="0"/>
              <a:t>상위 </a:t>
            </a:r>
            <a:r>
              <a:rPr lang="ko-KR" altLang="en-US" sz="1200" b="0" dirty="0" err="1"/>
              <a:t>메소드에</a:t>
            </a:r>
            <a:r>
              <a:rPr lang="ko-KR" altLang="en-US" sz="1200" b="0" dirty="0"/>
              <a:t> 정의된 </a:t>
            </a:r>
            <a:r>
              <a:rPr lang="ko-KR" altLang="en-US" sz="1200" b="0" dirty="0" err="1"/>
              <a:t>메소드인지</a:t>
            </a:r>
            <a:r>
              <a:rPr lang="ko-KR" altLang="en-US" sz="1200" b="0" dirty="0"/>
              <a:t> 확인</a:t>
            </a:r>
            <a:r>
              <a:rPr lang="en-US" altLang="ko-KR" sz="1200" b="0" dirty="0"/>
              <a:t> </a:t>
            </a:r>
            <a:endParaRPr lang="en-US" altLang="ko-KR" sz="1200" b="0" dirty="0" smtClean="0"/>
          </a:p>
          <a:p>
            <a:pPr marL="0" indent="0"/>
            <a:r>
              <a:rPr lang="en-US" altLang="ko-KR" sz="1200" b="0" dirty="0" smtClean="0"/>
              <a:t>3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최상위에 도달할 때까지 계속된다</a:t>
            </a:r>
            <a:r>
              <a:rPr lang="en-US" altLang="ko-KR" sz="1200" b="0" dirty="0"/>
              <a:t>. </a:t>
            </a:r>
          </a:p>
          <a:p>
            <a:r>
              <a:rPr lang="ko-KR" altLang="en-US" sz="1200" b="0" dirty="0"/>
              <a:t>상위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클래스의 </a:t>
            </a:r>
            <a:r>
              <a:rPr lang="ko-KR" altLang="en-US" sz="1200" b="0" dirty="0" err="1"/>
              <a:t>생성자메서드는</a:t>
            </a:r>
            <a:r>
              <a:rPr lang="ko-KR" altLang="en-US" sz="1200" b="0" dirty="0"/>
              <a:t> 하위 클래스에 자동으로 상속되지 않는다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 </a:t>
            </a:r>
            <a:endParaRPr lang="en-US" altLang="ko-KR" sz="1200" b="0" dirty="0"/>
          </a:p>
          <a:p>
            <a:r>
              <a:rPr lang="ko-KR" altLang="en-US" sz="1200" b="0" dirty="0"/>
              <a:t>어떤 클래스에 </a:t>
            </a:r>
            <a:r>
              <a:rPr lang="ko-KR" altLang="en-US" sz="1200" b="0" dirty="0" err="1"/>
              <a:t>생성자메서드를</a:t>
            </a:r>
            <a:r>
              <a:rPr lang="ko-KR" altLang="en-US" sz="1200" b="0" dirty="0"/>
              <a:t> 정의하지 않는다면 컴파일러는 기본 </a:t>
            </a:r>
            <a:r>
              <a:rPr lang="ko-KR" altLang="en-US" sz="1200" b="0" dirty="0" err="1"/>
              <a:t>생성자메서드</a:t>
            </a:r>
            <a:r>
              <a:rPr lang="ko-KR" altLang="en-US" sz="1200" b="0" dirty="0"/>
              <a:t> </a:t>
            </a:r>
            <a:r>
              <a:rPr lang="ko-KR" altLang="en-US" sz="1200" b="0" dirty="0" err="1" smtClean="0"/>
              <a:t>메소드를</a:t>
            </a:r>
            <a:r>
              <a:rPr lang="ko-KR" altLang="en-US" sz="1200" b="0" dirty="0" smtClean="0"/>
              <a:t> 추가</a:t>
            </a:r>
            <a:r>
              <a:rPr lang="en-US" altLang="ko-KR" sz="1200" b="0" dirty="0" smtClean="0"/>
              <a:t>.</a:t>
            </a:r>
          </a:p>
          <a:p>
            <a:endParaRPr lang="en-US" altLang="ko-KR" sz="1000" b="0" dirty="0"/>
          </a:p>
          <a:p>
            <a:r>
              <a:rPr lang="en-US" altLang="ko-KR" sz="1200" b="0" dirty="0" smtClean="0"/>
              <a:t>** </a:t>
            </a:r>
            <a:r>
              <a:rPr lang="ko-KR" altLang="en-US" sz="1200" b="0" dirty="0" smtClean="0"/>
              <a:t>상속 시 유의 점 </a:t>
            </a:r>
            <a:r>
              <a:rPr lang="en-US" altLang="ko-KR" sz="1200" b="0" dirty="0" smtClean="0"/>
              <a:t>**</a:t>
            </a:r>
          </a:p>
          <a:p>
            <a:r>
              <a:rPr lang="en-US" altLang="ko-KR" sz="1200" b="0" dirty="0" smtClean="0"/>
              <a:t>- </a:t>
            </a:r>
            <a:r>
              <a:rPr lang="ko-KR" altLang="en-US" sz="1200" b="0" dirty="0" smtClean="0"/>
              <a:t>하위 멤버 변수를 재정의 시 상위 멤버변수를 덮어씀</a:t>
            </a:r>
            <a:r>
              <a:rPr lang="en-US" altLang="ko-KR" sz="1200" b="0" dirty="0" smtClean="0"/>
              <a:t>.		- </a:t>
            </a:r>
            <a:r>
              <a:rPr lang="ko-KR" altLang="en-US" sz="1200" b="0" dirty="0" smtClean="0"/>
              <a:t>상속 시 </a:t>
            </a:r>
            <a:r>
              <a:rPr lang="en-US" altLang="ko-KR" sz="1200" b="0" dirty="0" smtClean="0"/>
              <a:t>private X</a:t>
            </a:r>
          </a:p>
          <a:p>
            <a:r>
              <a:rPr lang="en-US" altLang="ko-KR" sz="1200" b="0" dirty="0" smtClean="0"/>
              <a:t>- </a:t>
            </a:r>
            <a:r>
              <a:rPr lang="ko-KR" altLang="en-US" sz="1200" b="0" dirty="0" err="1" smtClean="0"/>
              <a:t>메소드는</a:t>
            </a:r>
            <a:r>
              <a:rPr lang="ko-KR" altLang="en-US" sz="1200" b="0" dirty="0" smtClean="0"/>
              <a:t> 자동상속</a:t>
            </a:r>
            <a:r>
              <a:rPr lang="en-US" altLang="ko-KR" sz="1200" b="0" dirty="0" smtClean="0"/>
              <a:t>	- </a:t>
            </a:r>
            <a:r>
              <a:rPr lang="ko-KR" altLang="en-US" sz="1200" b="0" dirty="0" err="1" smtClean="0"/>
              <a:t>생성자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메서드</a:t>
            </a:r>
            <a:r>
              <a:rPr lang="ko-KR" altLang="en-US" sz="1200" b="0" dirty="0" smtClean="0"/>
              <a:t> 자동상속 </a:t>
            </a:r>
            <a:r>
              <a:rPr lang="en-US" altLang="ko-KR" sz="1200" b="0" dirty="0" smtClean="0"/>
              <a:t>X -&gt; </a:t>
            </a:r>
            <a:r>
              <a:rPr lang="ko-KR" altLang="en-US" sz="1200" b="0" dirty="0" smtClean="0"/>
              <a:t>상위클래스  </a:t>
            </a:r>
            <a:r>
              <a:rPr lang="en-US" altLang="ko-KR" sz="1200" b="0" dirty="0" smtClean="0"/>
              <a:t>super() </a:t>
            </a:r>
            <a:r>
              <a:rPr lang="ko-KR" altLang="en-US" sz="1200" b="0" dirty="0" smtClean="0"/>
              <a:t>이용</a:t>
            </a:r>
            <a:endParaRPr lang="en-US" altLang="ko-KR" sz="1200" b="0" dirty="0" smtClean="0"/>
          </a:p>
          <a:p>
            <a:r>
              <a:rPr lang="en-US" altLang="ko-KR" sz="1200" b="0" dirty="0" smtClean="0"/>
              <a:t>- </a:t>
            </a:r>
            <a:r>
              <a:rPr lang="ko-KR" altLang="en-US" sz="1200" b="0" dirty="0" smtClean="0"/>
              <a:t>상속관계의 반드시 매개 변수 없는 </a:t>
            </a:r>
            <a:r>
              <a:rPr lang="ko-KR" altLang="en-US" sz="1200" b="0" dirty="0" err="1" smtClean="0"/>
              <a:t>생성자</a:t>
            </a:r>
            <a:r>
              <a:rPr lang="ko-KR" altLang="en-US" sz="1200" b="0" dirty="0" smtClean="0"/>
              <a:t> 삽입</a:t>
            </a:r>
            <a:endParaRPr lang="en-US" altLang="ko-KR" sz="1200" b="0" dirty="0" smtClean="0"/>
          </a:p>
          <a:p>
            <a:endParaRPr lang="en-US" altLang="ko-KR" sz="300" b="0" dirty="0"/>
          </a:p>
          <a:p>
            <a:r>
              <a:rPr lang="en-US" altLang="ko-KR" sz="1200" b="0" dirty="0" smtClean="0"/>
              <a:t>** super **</a:t>
            </a:r>
          </a:p>
          <a:p>
            <a:r>
              <a:rPr lang="ko-KR" altLang="en-US" sz="1200" b="0" dirty="0" smtClean="0"/>
              <a:t>상위 클래스의 변수나 </a:t>
            </a:r>
            <a:r>
              <a:rPr lang="ko-KR" altLang="en-US" sz="1200" b="0" dirty="0" err="1" smtClean="0"/>
              <a:t>메소드를</a:t>
            </a:r>
            <a:r>
              <a:rPr lang="ko-KR" altLang="en-US" sz="1200" b="0" dirty="0" smtClean="0"/>
              <a:t> 참조하기 위해 사용하는 </a:t>
            </a:r>
            <a:r>
              <a:rPr lang="ko-KR" altLang="en-US" sz="1200" b="0" dirty="0" err="1" smtClean="0"/>
              <a:t>예약어</a:t>
            </a:r>
            <a:endParaRPr lang="en-US" altLang="ko-KR" sz="1200" b="0" dirty="0" smtClean="0"/>
          </a:p>
          <a:p>
            <a:pPr>
              <a:lnSpc>
                <a:spcPct val="150000"/>
              </a:lnSpc>
            </a:pPr>
            <a:r>
              <a:rPr lang="en-US" altLang="ko-KR" sz="1200" b="0" dirty="0" smtClean="0"/>
              <a:t>super()</a:t>
            </a:r>
            <a:r>
              <a:rPr lang="ko-KR" altLang="en-US" sz="1200" b="0" dirty="0" err="1" smtClean="0"/>
              <a:t>메서드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: </a:t>
            </a:r>
            <a:r>
              <a:rPr lang="ko-KR" altLang="en-US" sz="1200" b="0" dirty="0" smtClean="0"/>
              <a:t>상위클래스의 </a:t>
            </a:r>
            <a:r>
              <a:rPr lang="ko-KR" altLang="en-US" sz="1200" b="0" dirty="0" err="1" smtClean="0"/>
              <a:t>생성자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메서드를</a:t>
            </a:r>
            <a:r>
              <a:rPr lang="ko-KR" altLang="en-US" sz="1200" b="0" dirty="0" smtClean="0"/>
              <a:t> 명시적으로 호출할 때 사용하는 것으로 하위 클래스의 </a:t>
            </a:r>
            <a:r>
              <a:rPr lang="ko-KR" altLang="en-US" sz="1200" b="0" dirty="0" err="1" smtClean="0"/>
              <a:t>생성자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메서드에서</a:t>
            </a:r>
            <a:r>
              <a:rPr lang="ko-KR" altLang="en-US" sz="1200" b="0" dirty="0" smtClean="0"/>
              <a:t> 제일 먼저 호출</a:t>
            </a:r>
            <a:r>
              <a:rPr lang="en-US" altLang="ko-KR" sz="1200" b="0" dirty="0" smtClean="0"/>
              <a:t>.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644" y="9627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smtClean="0">
                <a:latin typeface="+mn-ea"/>
                <a:ea typeface="+mn-ea"/>
              </a:rPr>
              <a:t>15. </a:t>
            </a:r>
            <a:r>
              <a:rPr lang="ko-KR" altLang="en-US" sz="1800" dirty="0" smtClean="0">
                <a:latin typeface="+mn-ea"/>
                <a:ea typeface="+mn-ea"/>
              </a:rPr>
              <a:t>상</a:t>
            </a:r>
            <a:r>
              <a:rPr lang="ko-KR" altLang="en-US" sz="1800" dirty="0">
                <a:latin typeface="+mn-ea"/>
                <a:ea typeface="+mn-ea"/>
              </a:rPr>
              <a:t>속</a:t>
            </a:r>
            <a:r>
              <a:rPr lang="ko-KR" altLang="en-US" sz="1800" dirty="0" smtClean="0">
                <a:latin typeface="+mn-ea"/>
                <a:ea typeface="+mn-ea"/>
              </a:rPr>
              <a:t> </a:t>
            </a:r>
            <a:endParaRPr lang="ko-KR" altLang="en-US" sz="1800" dirty="0">
              <a:latin typeface="+mn-ea"/>
              <a:ea typeface="+mn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48448"/>
              </p:ext>
            </p:extLst>
          </p:nvPr>
        </p:nvGraphicFramePr>
        <p:xfrm>
          <a:off x="217004" y="1820064"/>
          <a:ext cx="6416352" cy="11887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297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650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67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9480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클래스명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자동차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택시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트럭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90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멤버변수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차기종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dirty="0" smtClean="0"/>
                        <a:t>색상</a:t>
                      </a:r>
                      <a:r>
                        <a:rPr lang="en-US" altLang="ko-KR" sz="1200" dirty="0" smtClean="0"/>
                        <a:t>,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속도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dirty="0" smtClean="0"/>
                        <a:t>제조회사</a:t>
                      </a:r>
                      <a:endParaRPr lang="en-US" altLang="ko-KR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미터기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무게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90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메소드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속도를 </a:t>
                      </a:r>
                      <a:r>
                        <a:rPr lang="ko-KR" altLang="en-US" sz="1200" dirty="0" smtClean="0"/>
                        <a:t>올리다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dirty="0" smtClean="0"/>
                        <a:t>속도를 </a:t>
                      </a:r>
                      <a:r>
                        <a:rPr lang="ko-KR" altLang="en-US" sz="1200" dirty="0" smtClean="0"/>
                        <a:t>내리다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출발하다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dirty="0" smtClean="0"/>
                        <a:t>정지하다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미터기를 올리다 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미터기를 내리다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짐을 싣다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짐을 내리다 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336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7257257"/>
            <a:ext cx="6858000" cy="26487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6632" y="632519"/>
            <a:ext cx="6624736" cy="3672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상속 관계에 있는 클래스 중에서 상위 클래스에서는 특별한 구현 없이 사용하고자 하는 </a:t>
            </a:r>
            <a:r>
              <a:rPr lang="ko-KR" altLang="en-US" sz="1200" b="0" dirty="0" err="1" smtClean="0">
                <a:latin typeface="+mn-ea"/>
              </a:rPr>
              <a:t>메서드만</a:t>
            </a:r>
            <a:r>
              <a:rPr lang="ko-KR" altLang="en-US" sz="1200" b="0" dirty="0" smtClean="0">
                <a:latin typeface="+mn-ea"/>
              </a:rPr>
              <a:t> 기술하고 구체적인 구현은 하위 클래스에서 하도록 할 수 있음</a:t>
            </a:r>
            <a:r>
              <a:rPr lang="en-US" altLang="ko-KR" sz="1200" b="0" dirty="0" smtClean="0">
                <a:latin typeface="+mn-ea"/>
              </a:rPr>
              <a:t>. </a:t>
            </a:r>
          </a:p>
          <a:p>
            <a:pPr marL="0" indent="0">
              <a:lnSpc>
                <a:spcPct val="150000"/>
              </a:lnSpc>
            </a:pPr>
            <a:r>
              <a:rPr lang="en-US" altLang="ko-KR" sz="1200" b="0" dirty="0" smtClean="0">
                <a:latin typeface="+mn-ea"/>
              </a:rPr>
              <a:t>* </a:t>
            </a:r>
            <a:r>
              <a:rPr lang="ko-KR" altLang="en-US" sz="1200" b="0" dirty="0" smtClean="0">
                <a:latin typeface="+mn-ea"/>
              </a:rPr>
              <a:t>구체적인 내용을 기술 없이 모양만 갖춘 클래스</a:t>
            </a:r>
            <a:r>
              <a:rPr lang="en-US" altLang="ko-KR" sz="1200" b="0" dirty="0" smtClean="0">
                <a:latin typeface="+mn-ea"/>
              </a:rPr>
              <a:t> </a:t>
            </a:r>
          </a:p>
          <a:p>
            <a:pPr marL="0" indent="0">
              <a:lnSpc>
                <a:spcPct val="150000"/>
              </a:lnSpc>
            </a:pPr>
            <a:r>
              <a:rPr lang="en-US" altLang="ko-KR" sz="1200" b="0" dirty="0" smtClean="0">
                <a:latin typeface="+mn-ea"/>
              </a:rPr>
              <a:t>* </a:t>
            </a:r>
            <a:r>
              <a:rPr lang="ko-KR" altLang="en-US" sz="1200" b="0" dirty="0" smtClean="0">
                <a:latin typeface="+mn-ea"/>
              </a:rPr>
              <a:t>추상 클래스는 </a:t>
            </a:r>
            <a:r>
              <a:rPr lang="ko-KR" altLang="en-US" sz="1200" b="0" dirty="0" err="1" smtClean="0">
                <a:latin typeface="+mn-ea"/>
              </a:rPr>
              <a:t>추상메서드를</a:t>
            </a:r>
            <a:r>
              <a:rPr lang="ko-KR" altLang="en-US" sz="1200" b="0" dirty="0" smtClean="0">
                <a:latin typeface="+mn-ea"/>
              </a:rPr>
              <a:t> 가진다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추상 클래스는 </a:t>
            </a:r>
            <a:r>
              <a:rPr lang="en-US" altLang="ko-KR" sz="1200" b="0" dirty="0" smtClean="0">
                <a:latin typeface="+mn-ea"/>
              </a:rPr>
              <a:t>new</a:t>
            </a:r>
            <a:r>
              <a:rPr lang="ko-KR" altLang="en-US" sz="1200" b="0" dirty="0" smtClean="0">
                <a:latin typeface="+mn-ea"/>
              </a:rPr>
              <a:t>연산자로 객체를 생성할 수 없다</a:t>
            </a:r>
            <a:r>
              <a:rPr lang="en-US" altLang="ko-KR" sz="1200" b="0" dirty="0" smtClean="0">
                <a:latin typeface="+mn-ea"/>
              </a:rPr>
              <a:t>. </a:t>
            </a:r>
            <a:r>
              <a:rPr lang="ko-KR" altLang="en-US" sz="1200" b="0" dirty="0" smtClean="0">
                <a:latin typeface="+mn-ea"/>
              </a:rPr>
              <a:t>따라서 반드시 하위 클래스에서 상속받아 구현하여 사용하여야 한다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형식</a:t>
            </a:r>
            <a:endParaRPr lang="en-US" altLang="ko-KR" sz="1200" b="0" dirty="0" smtClean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ko-KR" sz="1200" b="0" dirty="0" smtClean="0">
                <a:latin typeface="+mn-ea"/>
              </a:rPr>
              <a:t>abstract class </a:t>
            </a:r>
            <a:r>
              <a:rPr lang="ko-KR" altLang="en-US" sz="1200" b="0" dirty="0" err="1" smtClean="0">
                <a:latin typeface="+mn-ea"/>
              </a:rPr>
              <a:t>클래스명</a:t>
            </a:r>
            <a:r>
              <a:rPr lang="en-US" altLang="ko-KR" sz="1200" b="0" dirty="0" smtClean="0">
                <a:latin typeface="+mn-ea"/>
              </a:rPr>
              <a:t>{  //</a:t>
            </a:r>
            <a:r>
              <a:rPr lang="ko-KR" altLang="en-US" sz="1200" b="0" dirty="0" smtClean="0">
                <a:latin typeface="+mn-ea"/>
              </a:rPr>
              <a:t>추상 </a:t>
            </a:r>
            <a:r>
              <a:rPr lang="ko-KR" altLang="en-US" sz="1200" b="0" dirty="0" err="1" smtClean="0">
                <a:latin typeface="+mn-ea"/>
              </a:rPr>
              <a:t>메서드</a:t>
            </a:r>
            <a:r>
              <a:rPr lang="ko-KR" altLang="en-US" sz="1200" b="0" dirty="0" smtClean="0">
                <a:latin typeface="+mn-ea"/>
              </a:rPr>
              <a:t> 선언   </a:t>
            </a:r>
            <a:r>
              <a:rPr lang="en-US" altLang="ko-KR" sz="1200" b="0" dirty="0" smtClean="0">
                <a:latin typeface="+mn-ea"/>
              </a:rPr>
              <a:t>}</a:t>
            </a:r>
          </a:p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추상 클래스의 추상 </a:t>
            </a:r>
            <a:r>
              <a:rPr lang="ko-KR" altLang="en-US" sz="1200" b="0" dirty="0" err="1" smtClean="0">
                <a:latin typeface="+mn-ea"/>
              </a:rPr>
              <a:t>메서드는</a:t>
            </a:r>
            <a:r>
              <a:rPr lang="ko-KR" altLang="en-US" sz="1200" b="0" dirty="0" smtClean="0">
                <a:latin typeface="+mn-ea"/>
              </a:rPr>
              <a:t> 반드시 </a:t>
            </a:r>
            <a:r>
              <a:rPr lang="ko-KR" altLang="en-US" sz="1200" b="0" dirty="0" err="1" smtClean="0">
                <a:latin typeface="+mn-ea"/>
              </a:rPr>
              <a:t>오버라이딩되어야</a:t>
            </a:r>
            <a:r>
              <a:rPr lang="ko-KR" altLang="en-US" sz="1200" b="0" dirty="0" smtClean="0">
                <a:latin typeface="+mn-ea"/>
              </a:rPr>
              <a:t> 하기 때문에 하위 클래스들이 특정 </a:t>
            </a:r>
            <a:r>
              <a:rPr lang="ko-KR" altLang="en-US" sz="1200" b="0" dirty="0" err="1" smtClean="0">
                <a:latin typeface="+mn-ea"/>
              </a:rPr>
              <a:t>메서드를</a:t>
            </a:r>
            <a:r>
              <a:rPr lang="ko-KR" altLang="en-US" sz="1200" b="0" dirty="0" smtClean="0">
                <a:latin typeface="+mn-ea"/>
              </a:rPr>
              <a:t> 반드시 구현하도록 강제할 수 있고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ko-KR" altLang="en-US" sz="1200" b="0" dirty="0" smtClean="0">
                <a:latin typeface="+mn-ea"/>
              </a:rPr>
              <a:t>만약 추상 </a:t>
            </a:r>
            <a:r>
              <a:rPr lang="ko-KR" altLang="en-US" sz="1200" b="0" dirty="0" err="1" smtClean="0">
                <a:latin typeface="+mn-ea"/>
              </a:rPr>
              <a:t>메서드를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ko-KR" altLang="en-US" sz="1200" b="0" dirty="0" err="1" smtClean="0">
                <a:latin typeface="+mn-ea"/>
              </a:rPr>
              <a:t>오버라이딩하지</a:t>
            </a:r>
            <a:r>
              <a:rPr lang="ko-KR" altLang="en-US" sz="1200" b="0" dirty="0" smtClean="0">
                <a:latin typeface="+mn-ea"/>
              </a:rPr>
              <a:t> 않으면 상속받는 클래스는 자동으로 추상 클래스가 된다</a:t>
            </a:r>
            <a:r>
              <a:rPr lang="en-US" altLang="ko-KR" sz="1200" b="0" dirty="0" smtClean="0">
                <a:latin typeface="+mn-ea"/>
              </a:rPr>
              <a:t>.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644" y="96272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smtClean="0">
                <a:latin typeface="+mn-ea"/>
                <a:ea typeface="+mn-ea"/>
              </a:rPr>
              <a:t>16. </a:t>
            </a:r>
            <a:r>
              <a:rPr lang="ko-KR" altLang="en-US" sz="1800" dirty="0" smtClean="0">
                <a:latin typeface="+mn-ea"/>
                <a:ea typeface="+mn-ea"/>
              </a:rPr>
              <a:t>추상클래</a:t>
            </a:r>
            <a:r>
              <a:rPr lang="ko-KR" altLang="en-US" sz="1800" dirty="0">
                <a:latin typeface="+mn-ea"/>
                <a:ea typeface="+mn-ea"/>
              </a:rPr>
              <a:t>스</a:t>
            </a:r>
            <a:r>
              <a:rPr lang="ko-KR" altLang="en-US" sz="1800" dirty="0" smtClean="0">
                <a:latin typeface="+mn-ea"/>
                <a:ea typeface="+mn-ea"/>
              </a:rPr>
              <a:t> 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72816" y="4397008"/>
            <a:ext cx="1224136" cy="2880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사</a:t>
            </a:r>
            <a:r>
              <a:rPr lang="ko-KR" altLang="en-US" sz="1200" dirty="0">
                <a:solidFill>
                  <a:schemeClr val="tx1"/>
                </a:solidFill>
              </a:rPr>
              <a:t>람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24744" y="4962435"/>
            <a:ext cx="1224136" cy="2880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성인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564904" y="4962435"/>
            <a:ext cx="1224136" cy="2880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청소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</a:p>
        </p:txBody>
      </p:sp>
      <p:cxnSp>
        <p:nvCxnSpPr>
          <p:cNvPr id="4" name="직선 화살표 연결선 3"/>
          <p:cNvCxnSpPr>
            <a:stCxn id="9" idx="0"/>
            <a:endCxn id="2" idx="2"/>
          </p:cNvCxnSpPr>
          <p:nvPr/>
        </p:nvCxnSpPr>
        <p:spPr>
          <a:xfrm flipV="1">
            <a:off x="1736812" y="4685040"/>
            <a:ext cx="648072" cy="27739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10" idx="0"/>
            <a:endCxn id="2" idx="2"/>
          </p:cNvCxnSpPr>
          <p:nvPr/>
        </p:nvCxnSpPr>
        <p:spPr>
          <a:xfrm flipH="1" flipV="1">
            <a:off x="2384884" y="4685040"/>
            <a:ext cx="792088" cy="27739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16" idx="1"/>
            <a:endCxn id="10" idx="3"/>
          </p:cNvCxnSpPr>
          <p:nvPr/>
        </p:nvCxnSpPr>
        <p:spPr>
          <a:xfrm flipH="1">
            <a:off x="3789040" y="5106451"/>
            <a:ext cx="720080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509120" y="4962435"/>
            <a:ext cx="1224136" cy="2880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고등학생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제목 1"/>
          <p:cNvSpPr txBox="1">
            <a:spLocks/>
          </p:cNvSpPr>
          <p:nvPr/>
        </p:nvSpPr>
        <p:spPr>
          <a:xfrm>
            <a:off x="219120" y="5313040"/>
            <a:ext cx="6408712" cy="464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smtClean="0">
                <a:latin typeface="+mn-ea"/>
                <a:ea typeface="+mn-ea"/>
              </a:rPr>
              <a:t>17. </a:t>
            </a:r>
            <a:r>
              <a:rPr lang="ko-KR" altLang="en-US" sz="1800" dirty="0" smtClean="0">
                <a:latin typeface="+mn-ea"/>
                <a:ea typeface="+mn-ea"/>
              </a:rPr>
              <a:t>인터페이</a:t>
            </a:r>
            <a:r>
              <a:rPr lang="ko-KR" altLang="en-US" sz="1800" dirty="0">
                <a:latin typeface="+mn-ea"/>
                <a:ea typeface="+mn-ea"/>
              </a:rPr>
              <a:t>스</a:t>
            </a:r>
            <a:r>
              <a:rPr lang="ko-KR" altLang="en-US" sz="1800" dirty="0" smtClean="0">
                <a:latin typeface="+mn-ea"/>
                <a:ea typeface="+mn-ea"/>
              </a:rPr>
              <a:t> 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20" name="내용 개체 틀 2"/>
          <p:cNvSpPr txBox="1">
            <a:spLocks/>
          </p:cNvSpPr>
          <p:nvPr/>
        </p:nvSpPr>
        <p:spPr>
          <a:xfrm>
            <a:off x="116632" y="5673080"/>
            <a:ext cx="6624736" cy="3672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1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추상 </a:t>
            </a:r>
            <a:r>
              <a:rPr lang="ko-KR" altLang="en-US" sz="1200" b="0" dirty="0" err="1" smtClean="0">
                <a:latin typeface="+mn-ea"/>
              </a:rPr>
              <a:t>메서드들의</a:t>
            </a:r>
            <a:r>
              <a:rPr lang="ko-KR" altLang="en-US" sz="1200" b="0" dirty="0" smtClean="0">
                <a:latin typeface="+mn-ea"/>
              </a:rPr>
              <a:t> 모임</a:t>
            </a:r>
            <a:endParaRPr lang="en-US" altLang="ko-KR" sz="1200" b="0" dirty="0" smtClean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현재의 클래스가 이미 다른 클래스로부터 상속을 받고 있는 상태이면서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ko-KR" altLang="en-US" sz="1200" b="0" dirty="0" smtClean="0">
                <a:latin typeface="+mn-ea"/>
              </a:rPr>
              <a:t>또 다른 클래스의 요소들이 필요할 때 사용 </a:t>
            </a:r>
            <a:r>
              <a:rPr lang="en-US" altLang="ko-KR" sz="1200" b="0" dirty="0" smtClean="0">
                <a:latin typeface="+mn-ea"/>
              </a:rPr>
              <a:t>( </a:t>
            </a:r>
            <a:r>
              <a:rPr lang="ko-KR" altLang="en-US" sz="1200" b="0" dirty="0" smtClean="0">
                <a:latin typeface="+mn-ea"/>
              </a:rPr>
              <a:t>다중 상속의 유사한 기능을 흉내 낼 수 있음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en-US" altLang="ko-KR" sz="1200" b="0" dirty="0" smtClean="0">
                <a:latin typeface="+mn-ea"/>
              </a:rPr>
              <a:t>has a </a:t>
            </a:r>
            <a:r>
              <a:rPr lang="ko-KR" altLang="en-US" sz="1200" b="0" dirty="0" smtClean="0">
                <a:latin typeface="+mn-ea"/>
              </a:rPr>
              <a:t>관계 </a:t>
            </a:r>
            <a:r>
              <a:rPr lang="en-US" altLang="ko-KR" sz="1200" b="0" dirty="0" smtClean="0">
                <a:latin typeface="+mn-ea"/>
              </a:rPr>
              <a:t>	ex )  </a:t>
            </a:r>
            <a:r>
              <a:rPr lang="ko-KR" altLang="en-US" sz="1200" b="0" dirty="0" smtClean="0">
                <a:latin typeface="+mn-ea"/>
              </a:rPr>
              <a:t>학생 </a:t>
            </a:r>
            <a:r>
              <a:rPr lang="en-US" altLang="ko-KR" sz="1200" b="0" dirty="0" smtClean="0">
                <a:latin typeface="+mn-ea"/>
              </a:rPr>
              <a:t>has a </a:t>
            </a:r>
            <a:r>
              <a:rPr lang="ko-KR" altLang="en-US" sz="1200" b="0" dirty="0" smtClean="0">
                <a:latin typeface="+mn-ea"/>
              </a:rPr>
              <a:t>급식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ko-KR" altLang="en-US" sz="1200" b="0" dirty="0" smtClean="0">
                <a:latin typeface="+mn-ea"/>
              </a:rPr>
              <a:t>공부</a:t>
            </a:r>
            <a:endParaRPr lang="en-US" altLang="ko-KR" sz="1200" b="0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형식</a:t>
            </a:r>
            <a:endParaRPr lang="en-US" altLang="ko-KR" sz="1200" b="0" dirty="0" smtClean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ko-KR" sz="1200" b="0" dirty="0" smtClean="0">
                <a:latin typeface="+mn-ea"/>
              </a:rPr>
              <a:t>public interface </a:t>
            </a:r>
            <a:r>
              <a:rPr lang="ko-KR" altLang="en-US" sz="1200" b="0" dirty="0" err="1" smtClean="0">
                <a:latin typeface="+mn-ea"/>
              </a:rPr>
              <a:t>인터페이스명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{    public </a:t>
            </a:r>
            <a:r>
              <a:rPr lang="ko-KR" altLang="en-US" sz="1200" b="0" dirty="0" err="1" smtClean="0">
                <a:latin typeface="+mn-ea"/>
              </a:rPr>
              <a:t>메소드</a:t>
            </a:r>
            <a:r>
              <a:rPr lang="ko-KR" altLang="en-US" sz="1200" b="0" dirty="0" smtClean="0">
                <a:latin typeface="+mn-ea"/>
              </a:rPr>
              <a:t> 이름</a:t>
            </a:r>
            <a:r>
              <a:rPr lang="en-US" altLang="ko-KR" sz="1200" b="0" dirty="0" smtClean="0">
                <a:latin typeface="+mn-ea"/>
              </a:rPr>
              <a:t>( </a:t>
            </a:r>
            <a:r>
              <a:rPr lang="ko-KR" altLang="en-US" sz="1200" b="0" dirty="0" smtClean="0">
                <a:latin typeface="+mn-ea"/>
              </a:rPr>
              <a:t>인자들 </a:t>
            </a:r>
            <a:r>
              <a:rPr lang="en-US" altLang="ko-KR" sz="1200" b="0" dirty="0" smtClean="0">
                <a:latin typeface="+mn-ea"/>
              </a:rPr>
              <a:t>);      }</a:t>
            </a:r>
          </a:p>
          <a:p>
            <a:pPr marL="0" indent="0">
              <a:lnSpc>
                <a:spcPct val="150000"/>
              </a:lnSpc>
            </a:pPr>
            <a:r>
              <a:rPr lang="ko-KR" altLang="en-US" sz="1200" b="0" dirty="0" smtClean="0">
                <a:latin typeface="+mn-ea"/>
              </a:rPr>
              <a:t>구현</a:t>
            </a:r>
            <a:endParaRPr lang="en-US" altLang="ko-KR" sz="1200" b="0" dirty="0" smtClean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ko-KR" sz="1200" b="0" dirty="0" smtClean="0">
                <a:latin typeface="+mn-ea"/>
              </a:rPr>
              <a:t>class </a:t>
            </a:r>
            <a:r>
              <a:rPr lang="ko-KR" altLang="en-US" sz="1200" b="0" dirty="0" err="1" smtClean="0">
                <a:latin typeface="+mn-ea"/>
              </a:rPr>
              <a:t>클래스명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implements </a:t>
            </a:r>
            <a:r>
              <a:rPr lang="ko-KR" altLang="en-US" sz="1200" b="0" dirty="0" err="1" smtClean="0">
                <a:latin typeface="+mn-ea"/>
              </a:rPr>
              <a:t>인터페이스명</a:t>
            </a:r>
            <a:r>
              <a:rPr lang="ko-KR" altLang="en-US" sz="1200" b="0" dirty="0" smtClean="0">
                <a:latin typeface="+mn-ea"/>
              </a:rPr>
              <a:t> </a:t>
            </a:r>
            <a:r>
              <a:rPr lang="en-US" altLang="ko-KR" sz="1200" b="0" dirty="0" smtClean="0">
                <a:latin typeface="+mn-ea"/>
              </a:rPr>
              <a:t>{  }</a:t>
            </a:r>
          </a:p>
          <a:p>
            <a:pPr marL="0" indent="0">
              <a:lnSpc>
                <a:spcPct val="150000"/>
              </a:lnSpc>
            </a:pPr>
            <a:endParaRPr lang="en-US" altLang="ko-KR" sz="1200" b="0" dirty="0" smtClean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61048" y="8121352"/>
            <a:ext cx="2664296" cy="151216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767296" y="8049344"/>
            <a:ext cx="957848" cy="380717"/>
          </a:xfrm>
          <a:prstGeom prst="rect">
            <a:avLst/>
          </a:prstGeom>
          <a:solidFill>
            <a:srgbClr val="F9D7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accent3"/>
                </a:solidFill>
              </a:rPr>
              <a:t>추상클래스</a:t>
            </a:r>
            <a:endParaRPr lang="ko-KR" altLang="en-US" sz="1200" b="1" dirty="0">
              <a:solidFill>
                <a:schemeClr val="accent3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890104" y="8640921"/>
            <a:ext cx="1296144" cy="787276"/>
          </a:xfrm>
          <a:prstGeom prst="rect">
            <a:avLst/>
          </a:prstGeom>
          <a:solidFill>
            <a:srgbClr val="F9D7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solidFill>
                  <a:schemeClr val="tx1"/>
                </a:solidFill>
              </a:rPr>
              <a:t>변수</a:t>
            </a:r>
            <a:r>
              <a:rPr lang="en-US" altLang="ko-KR" sz="1100" dirty="0" smtClean="0">
                <a:solidFill>
                  <a:schemeClr val="tx1"/>
                </a:solidFill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solidFill>
                  <a:schemeClr val="tx1"/>
                </a:solidFill>
              </a:rPr>
              <a:t>일반 </a:t>
            </a:r>
            <a:r>
              <a:rPr lang="ko-KR" altLang="en-US" sz="1100" dirty="0" err="1" smtClean="0">
                <a:solidFill>
                  <a:schemeClr val="tx1"/>
                </a:solidFill>
              </a:rPr>
              <a:t>메서드</a:t>
            </a:r>
            <a:r>
              <a:rPr lang="en-US" altLang="ko-KR" sz="1100" dirty="0" smtClean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solidFill>
                  <a:schemeClr val="tx1"/>
                </a:solidFill>
              </a:rPr>
              <a:t>클래</a:t>
            </a:r>
            <a:r>
              <a:rPr lang="ko-KR" altLang="en-US" sz="1100" dirty="0">
                <a:solidFill>
                  <a:schemeClr val="tx1"/>
                </a:solidFill>
              </a:rPr>
              <a:t>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337212" y="8352519"/>
            <a:ext cx="972108" cy="11268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282735" y="8337376"/>
            <a:ext cx="1076962" cy="92685"/>
          </a:xfrm>
          <a:prstGeom prst="rect">
            <a:avLst/>
          </a:prstGeom>
          <a:solidFill>
            <a:srgbClr val="F9D7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accent3"/>
                </a:solidFill>
              </a:rPr>
              <a:t>인터페이스</a:t>
            </a:r>
            <a:endParaRPr lang="ko-KR" altLang="en-US" sz="1200" b="1" dirty="0">
              <a:solidFill>
                <a:schemeClr val="accent3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200" y="8558753"/>
            <a:ext cx="1296144" cy="7872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 err="1" smtClean="0">
                <a:solidFill>
                  <a:schemeClr val="tx1"/>
                </a:solidFill>
              </a:rPr>
              <a:t>추상메서드</a:t>
            </a:r>
            <a:r>
              <a:rPr lang="en-US" altLang="ko-KR" sz="1100" dirty="0" smtClean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solidFill>
                  <a:schemeClr val="tx1"/>
                </a:solidFill>
              </a:rPr>
              <a:t>상</a:t>
            </a:r>
            <a:r>
              <a:rPr lang="ko-KR" altLang="en-US" sz="1100" dirty="0">
                <a:solidFill>
                  <a:schemeClr val="tx1"/>
                </a:solidFill>
              </a:rPr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13775943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각">
  <a:themeElements>
    <a:clrScheme name="모듈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각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5842</TotalTime>
  <Words>3141</Words>
  <Application>Microsoft Office PowerPoint</Application>
  <PresentationFormat>A4 용지(210x297mm)</PresentationFormat>
  <Paragraphs>769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각</vt:lpstr>
      <vt:lpstr>PowerPoint 프레젠테이션</vt:lpstr>
      <vt:lpstr>PowerPoint 프레젠테이션</vt:lpstr>
      <vt:lpstr>1. JAVA 언어?</vt:lpstr>
      <vt:lpstr>3. 자바</vt:lpstr>
      <vt:lpstr>PowerPoint 프레젠테이션</vt:lpstr>
      <vt:lpstr>5. 배열</vt:lpstr>
      <vt:lpstr>PowerPoint 프레젠테이션</vt:lpstr>
      <vt:lpstr>PowerPoint 프레젠테이션</vt:lpstr>
      <vt:lpstr>PowerPoint 프레젠테이션</vt:lpstr>
      <vt:lpstr>8. 제어문</vt:lpstr>
      <vt:lpstr>9. 객체</vt:lpstr>
      <vt:lpstr>10. 객체지향 프로그래밍</vt:lpstr>
      <vt:lpstr>12. 클래스</vt:lpstr>
      <vt:lpstr>객체 생성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KNE</dc:creator>
  <cp:lastModifiedBy>KNE</cp:lastModifiedBy>
  <cp:revision>71</cp:revision>
  <dcterms:created xsi:type="dcterms:W3CDTF">2020-01-16T03:40:22Z</dcterms:created>
  <dcterms:modified xsi:type="dcterms:W3CDTF">2020-01-28T19:31:48Z</dcterms:modified>
</cp:coreProperties>
</file>